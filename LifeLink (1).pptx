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IBM Plex Mono"/>
      <p:regular r:id="rId201314"/>
    </p:embeddedFont>
    <p:embeddedFont>
      <p:font typeface="IBM Plex Mono Medium"/>
      <p:regular r:id="rId201315"/>
    </p:embeddedFont>
    <p:embeddedFont>
      <p:font typeface="IBM Plex Mono SemiBold"/>
      <p:regular r:id="rId201316"/>
    </p:embeddedFont>
    <p:embeddedFont>
      <p:font typeface="IBM Plex Mono Bold"/>
      <p:regular r:id="rId201317"/>
    </p:embeddedFont>
    <p:embeddedFont>
      <p:font typeface="Public Sans"/>
      <p:regular r:id="rId201318"/>
    </p:embeddedFont>
    <p:embeddedFont>
      <p:font typeface="Public Sans Bold"/>
      <p:regular r:id="rId201319"/>
    </p:embeddedFont>
    <p:embeddedFont>
      <p:font typeface="Sofia Sans Extra Condensed ExtraBold"/>
      <p:regular r:id="rId2013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5F4E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5F4E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jpe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jpe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585" y="3175000"/>
            <a:ext cx="6603835" cy="3004741"/>
          </a:xfrm>
          <a:prstGeom prst="rect">
            <a:avLst/>
          </a:prstGeom>
          <a:solidFill>
            <a:srgbClr val="F5F4EF"/>
          </a:solidFill>
          <a:ln/>
        </p:spPr>
      </p:sp>
      <p:sp>
        <p:nvSpPr>
          <p:cNvPr id="3" name="Shape 1"/>
          <p:cNvSpPr/>
          <p:nvPr/>
        </p:nvSpPr>
        <p:spPr>
          <a:xfrm>
            <a:off x="965176" y="3527425"/>
            <a:ext cx="1473163" cy="57150"/>
          </a:xfrm>
          <a:prstGeom prst="roundRect">
            <a:avLst>
              <a:gd name="adj" fmla="val 49999"/>
            </a:avLst>
          </a:prstGeom>
          <a:solidFill>
            <a:srgbClr val="00756A"/>
          </a:solidFill>
          <a:ln/>
        </p:spPr>
      </p:sp>
      <p:sp>
        <p:nvSpPr>
          <p:cNvPr id="4" name="Text 2"/>
          <p:cNvSpPr/>
          <p:nvPr/>
        </p:nvSpPr>
        <p:spPr>
          <a:xfrm>
            <a:off x="965176" y="3990785"/>
            <a:ext cx="5892653" cy="1048445"/>
          </a:xfrm>
          <a:prstGeom prst="rect">
            <a:avLst/>
          </a:prstGeom>
          <a:noFill/>
          <a:ln/>
        </p:spPr>
        <p:txBody>
          <a:bodyPr wrap="none" lIns="0" tIns="0" rIns="0" bIns="0" rtlCol="0" anchor="t"/>
          <a:lstStyle/>
          <a:p>
            <a:pPr algn="l" indent="0" marL="0">
              <a:lnSpc>
                <a:spcPct val="72000"/>
              </a:lnSpc>
              <a:buNone/>
            </a:pPr>
            <a:r>
              <a:rPr lang="en-US" sz="9600" spc="-96" kern="100" dirty="0">
                <a:solidFill>
                  <a:srgbClr val="000000"/>
                </a:solidFill>
                <a:latin typeface="Sofia Sans Extra Condensed ExtraBold" pitchFamily="34" charset="0"/>
                <a:ea typeface="Sofia Sans Extra Condensed ExtraBold" pitchFamily="34" charset="-122"/>
                <a:cs typeface="Sofia Sans Extra Condensed ExtraBold" pitchFamily="34" charset="0"/>
              </a:rPr>
              <a:t>LIFELINK</a:t>
            </a:r>
            <a:endParaRPr lang="en-US" sz="9600" dirty="0"/>
          </a:p>
        </p:txBody>
      </p:sp>
      <p:sp>
        <p:nvSpPr>
          <p:cNvPr id="5" name="Text 3"/>
          <p:cNvSpPr/>
          <p:nvPr/>
        </p:nvSpPr>
        <p:spPr>
          <a:xfrm>
            <a:off x="965176" y="5089585"/>
            <a:ext cx="6502237" cy="319980"/>
          </a:xfrm>
          <a:prstGeom prst="rect">
            <a:avLst/>
          </a:prstGeom>
          <a:noFill/>
          <a:ln/>
        </p:spPr>
        <p:txBody>
          <a:bodyPr wrap="none" lIns="0" tIns="0" rIns="0" bIns="0" rtlCol="0" anchor="t"/>
          <a:lstStyle/>
          <a:p>
            <a:pPr algn="l" indent="0" marL="0">
              <a:lnSpc>
                <a:spcPct val="117000"/>
              </a:lnSpc>
              <a:buNone/>
            </a:pPr>
            <a:r>
              <a:rPr lang="en-US" sz="1800" dirty="0">
                <a:solidFill>
                  <a:srgbClr val="000000"/>
                </a:solidFill>
                <a:latin typeface="Public Sans" pitchFamily="34" charset="0"/>
                <a:ea typeface="Public Sans" pitchFamily="34" charset="-122"/>
                <a:cs typeface="Public Sans" pitchFamily="34" charset="0"/>
              </a:rPr>
              <a:t>One Platform. Many Lives Saved.</a:t>
            </a:r>
            <a:endParaRPr lang="en-US" sz="1800" dirty="0"/>
          </a:p>
        </p:txBody>
      </p:sp>
      <p:sp>
        <p:nvSpPr>
          <p:cNvPr id="6" name="Text 4"/>
          <p:cNvSpPr/>
          <p:nvPr/>
        </p:nvSpPr>
        <p:spPr>
          <a:xfrm>
            <a:off x="965176" y="5544185"/>
            <a:ext cx="5892653" cy="363141"/>
          </a:xfrm>
          <a:prstGeom prst="rect">
            <a:avLst/>
          </a:prstGeom>
          <a:noFill/>
          <a:ln/>
        </p:spPr>
        <p:txBody>
          <a:bodyPr wrap="square" lIns="0" tIns="0" rIns="0" bIns="0" rtlCol="0" anchor="t">
            <a:normAutofit/>
          </a:bodyPr>
          <a:lstStyle/>
          <a:p>
            <a:pPr algn="l" indent="0" marL="0">
              <a:lnSpc>
                <a:spcPct val="108000"/>
              </a:lnSpc>
              <a:buNone/>
            </a:pPr>
            <a:r>
              <a:rPr lang="en-US" sz="1100" spc="88" kern="100" dirty="0">
                <a:solidFill>
                  <a:srgbClr val="566064"/>
                </a:solidFill>
                <a:latin typeface="IBM Plex Mono" pitchFamily="34" charset="0"/>
                <a:ea typeface="IBM Plex Mono" pitchFamily="34" charset="-122"/>
                <a:cs typeface="IBM Plex Mono" pitchFamily="34" charset="0"/>
              </a:rPr>
              <a:t>AN INTEGRATED HEALTHCARE, DONATION, AND MEDICAL SERVICE PLATFORM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491173"/>
            <a:ext cx="6400640"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111618"/>
                </a:solidFill>
                <a:latin typeface="Sofia Sans Extra Condensed ExtraBold" pitchFamily="34" charset="0"/>
                <a:ea typeface="Sofia Sans Extra Condensed ExtraBold" pitchFamily="34" charset="-122"/>
                <a:cs typeface="Sofia Sans Extra Condensed ExtraBold" pitchFamily="34" charset="0"/>
              </a:rPr>
              <a:t>HEALTHCARE ACCESS IS FRAGMENTED WHEN TIME MATTERS</a:t>
            </a:r>
            <a:endParaRPr lang="en-US" sz="4400" dirty="0"/>
          </a:p>
        </p:txBody>
      </p:sp>
      <p:sp>
        <p:nvSpPr>
          <p:cNvPr id="3" name="Text 1"/>
          <p:cNvSpPr/>
          <p:nvPr/>
        </p:nvSpPr>
        <p:spPr>
          <a:xfrm>
            <a:off x="457189" y="1668066"/>
            <a:ext cx="6857828" cy="266700"/>
          </a:xfrm>
          <a:prstGeom prst="rect">
            <a:avLst/>
          </a:prstGeom>
          <a:noFill/>
          <a:ln/>
        </p:spPr>
        <p:txBody>
          <a:bodyPr wrap="none" lIns="0" tIns="0" rIns="0" bIns="0" rtlCol="0" anchor="t"/>
          <a:lstStyle/>
          <a:p>
            <a:pPr algn="l" indent="0" marL="0">
              <a:lnSpc>
                <a:spcPct val="117000"/>
              </a:lnSpc>
              <a:buNone/>
            </a:pPr>
            <a:r>
              <a:rPr lang="en-US" sz="1500" dirty="0">
                <a:solidFill>
                  <a:srgbClr val="2A3134"/>
                </a:solidFill>
                <a:latin typeface="Public Sans" pitchFamily="34" charset="0"/>
                <a:ea typeface="Public Sans" pitchFamily="34" charset="-122"/>
                <a:cs typeface="Public Sans" pitchFamily="34" charset="0"/>
              </a:rPr>
              <a:t>The right information is often spread across separate services.</a:t>
            </a:r>
            <a:endParaRPr lang="en-US" sz="1500" dirty="0"/>
          </a:p>
        </p:txBody>
      </p:sp>
      <p:sp>
        <p:nvSpPr>
          <p:cNvPr id="4" name="Text 2"/>
          <p:cNvSpPr/>
          <p:nvPr/>
        </p:nvSpPr>
        <p:spPr>
          <a:xfrm>
            <a:off x="457189" y="2069306"/>
            <a:ext cx="838179" cy="190500"/>
          </a:xfrm>
          <a:prstGeom prst="rect">
            <a:avLst/>
          </a:prstGeom>
          <a:noFill/>
          <a:ln/>
        </p:spPr>
        <p:txBody>
          <a:bodyPr wrap="none" lIns="0" tIns="0" rIns="0" bIns="0" rtlCol="0" anchor="t"/>
          <a:lstStyle/>
          <a:p>
            <a:pPr algn="l" indent="0" marL="0">
              <a:lnSpc>
                <a:spcPct val="83000"/>
              </a:lnSpc>
              <a:buNone/>
            </a:pPr>
            <a:r>
              <a:rPr lang="en-US" sz="1500" dirty="0">
                <a:solidFill>
                  <a:srgbClr val="00756A"/>
                </a:solidFill>
                <a:latin typeface="IBM Plex Mono SemiBold" pitchFamily="34" charset="0"/>
                <a:ea typeface="IBM Plex Mono SemiBold" pitchFamily="34" charset="-122"/>
                <a:cs typeface="IBM Plex Mono SemiBold" pitchFamily="34" charset="0"/>
              </a:rPr>
              <a:t>01</a:t>
            </a:r>
            <a:endParaRPr lang="en-US" sz="1500" dirty="0"/>
          </a:p>
        </p:txBody>
      </p:sp>
      <p:sp>
        <p:nvSpPr>
          <p:cNvPr id="5" name="Text 3"/>
          <p:cNvSpPr/>
          <p:nvPr/>
        </p:nvSpPr>
        <p:spPr>
          <a:xfrm>
            <a:off x="838179" y="2070973"/>
            <a:ext cx="6019649" cy="274241"/>
          </a:xfrm>
          <a:prstGeom prst="rect">
            <a:avLst/>
          </a:prstGeom>
          <a:noFill/>
          <a:ln/>
        </p:spPr>
        <p:txBody>
          <a:bodyPr wrap="none" lIns="0" tIns="0" rIns="0" bIns="0" rtlCol="0" anchor="t"/>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Finding blood donors during emergencies is difficult.</a:t>
            </a:r>
            <a:endParaRPr lang="en-US" sz="1600" dirty="0"/>
          </a:p>
        </p:txBody>
      </p:sp>
      <p:sp>
        <p:nvSpPr>
          <p:cNvPr id="6" name="Text 4"/>
          <p:cNvSpPr/>
          <p:nvPr/>
        </p:nvSpPr>
        <p:spPr>
          <a:xfrm>
            <a:off x="457189" y="3574455"/>
            <a:ext cx="838179" cy="190500"/>
          </a:xfrm>
          <a:prstGeom prst="rect">
            <a:avLst/>
          </a:prstGeom>
          <a:noFill/>
          <a:ln/>
        </p:spPr>
        <p:txBody>
          <a:bodyPr wrap="none" lIns="0" tIns="0" rIns="0" bIns="0" rtlCol="0" anchor="t"/>
          <a:lstStyle/>
          <a:p>
            <a:pPr algn="l" indent="0" marL="0">
              <a:lnSpc>
                <a:spcPct val="83000"/>
              </a:lnSpc>
              <a:buNone/>
            </a:pPr>
            <a:r>
              <a:rPr lang="en-US" sz="1500" dirty="0">
                <a:solidFill>
                  <a:srgbClr val="00756A"/>
                </a:solidFill>
                <a:latin typeface="IBM Plex Mono SemiBold" pitchFamily="34" charset="0"/>
                <a:ea typeface="IBM Plex Mono SemiBold" pitchFamily="34" charset="-122"/>
                <a:cs typeface="IBM Plex Mono SemiBold" pitchFamily="34" charset="0"/>
              </a:rPr>
              <a:t>02</a:t>
            </a:r>
            <a:endParaRPr lang="en-US" sz="1500" dirty="0"/>
          </a:p>
        </p:txBody>
      </p:sp>
      <p:sp>
        <p:nvSpPr>
          <p:cNvPr id="7" name="Text 5"/>
          <p:cNvSpPr/>
          <p:nvPr/>
        </p:nvSpPr>
        <p:spPr>
          <a:xfrm>
            <a:off x="838179" y="3576122"/>
            <a:ext cx="6019649" cy="548481"/>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Donation guidance, medical tests, medicines, and appointments live across separate services.</a:t>
            </a:r>
            <a:endParaRPr lang="en-US" sz="1600" dirty="0"/>
          </a:p>
        </p:txBody>
      </p:sp>
      <p:sp>
        <p:nvSpPr>
          <p:cNvPr id="8" name="Text 6"/>
          <p:cNvSpPr/>
          <p:nvPr/>
        </p:nvSpPr>
        <p:spPr>
          <a:xfrm>
            <a:off x="457189" y="5353943"/>
            <a:ext cx="838179" cy="190500"/>
          </a:xfrm>
          <a:prstGeom prst="rect">
            <a:avLst/>
          </a:prstGeom>
          <a:noFill/>
          <a:ln/>
        </p:spPr>
        <p:txBody>
          <a:bodyPr wrap="none" lIns="0" tIns="0" rIns="0" bIns="0" rtlCol="0" anchor="t"/>
          <a:lstStyle/>
          <a:p>
            <a:pPr algn="l" indent="0" marL="0">
              <a:lnSpc>
                <a:spcPct val="83000"/>
              </a:lnSpc>
              <a:buNone/>
            </a:pPr>
            <a:r>
              <a:rPr lang="en-US" sz="1500" dirty="0">
                <a:solidFill>
                  <a:srgbClr val="00756A"/>
                </a:solidFill>
                <a:latin typeface="IBM Plex Mono SemiBold" pitchFamily="34" charset="0"/>
                <a:ea typeface="IBM Plex Mono SemiBold" pitchFamily="34" charset="-122"/>
                <a:cs typeface="IBM Plex Mono SemiBold" pitchFamily="34" charset="0"/>
              </a:rPr>
              <a:t>03</a:t>
            </a:r>
            <a:endParaRPr lang="en-US" sz="1500" dirty="0"/>
          </a:p>
        </p:txBody>
      </p:sp>
      <p:sp>
        <p:nvSpPr>
          <p:cNvPr id="9" name="Text 7"/>
          <p:cNvSpPr/>
          <p:nvPr/>
        </p:nvSpPr>
        <p:spPr>
          <a:xfrm>
            <a:off x="838179" y="5355610"/>
            <a:ext cx="6019649" cy="274241"/>
          </a:xfrm>
          <a:prstGeom prst="rect">
            <a:avLst/>
          </a:prstGeom>
          <a:noFill/>
          <a:ln/>
        </p:spPr>
        <p:txBody>
          <a:bodyPr wrap="none" lIns="0" tIns="0" rIns="0" bIns="0" rtlCol="0" anchor="t"/>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Prices and availability are hard to compare before a decision.</a:t>
            </a:r>
            <a:endParaRPr lang="en-US" sz="1600" dirty="0"/>
          </a:p>
        </p:txBody>
      </p:sp>
      <p:pic>
        <p:nvPicPr>
          <p:cNvPr id="10" name="Image 0" descr="preencoded.png">    </p:cNvPr>
          <p:cNvPicPr>
            <a:picLocks noChangeAspect="1"/>
          </p:cNvPicPr>
          <p:nvPr/>
        </p:nvPicPr>
        <p:blipFill>
          <a:blip r:embed="rId1"/>
          <a:stretch>
            <a:fillRect/>
          </a:stretch>
        </p:blipFill>
        <p:spPr>
          <a:xfrm>
            <a:off x="7315017" y="0"/>
            <a:ext cx="4876678" cy="6858000"/>
          </a:xfrm>
          <a:prstGeom prst="rect">
            <a:avLst/>
          </a:prstGeom>
        </p:spPr>
      </p:pic>
      <p:sp>
        <p:nvSpPr>
          <p:cNvPr id="11" name="Shape 8"/>
          <p:cNvSpPr/>
          <p:nvPr/>
        </p:nvSpPr>
        <p:spPr>
          <a:xfrm>
            <a:off x="457189" y="3338314"/>
            <a:ext cx="6400640" cy="12700"/>
          </a:xfrm>
          <a:prstGeom prst="rect">
            <a:avLst/>
          </a:prstGeom>
          <a:solidFill>
            <a:srgbClr val="CFCEC5"/>
          </a:solidFill>
          <a:ln/>
        </p:spPr>
      </p:sp>
      <p:sp>
        <p:nvSpPr>
          <p:cNvPr id="12" name="Shape 9"/>
          <p:cNvSpPr/>
          <p:nvPr/>
        </p:nvSpPr>
        <p:spPr>
          <a:xfrm>
            <a:off x="457189" y="5117802"/>
            <a:ext cx="6400640" cy="12700"/>
          </a:xfrm>
          <a:prstGeom prst="rect">
            <a:avLst/>
          </a:prstGeom>
          <a:solidFill>
            <a:srgbClr val="CFCEC5"/>
          </a:solidFill>
          <a:ln/>
        </p:spPr>
      </p:sp>
      <p:sp>
        <p:nvSpPr>
          <p:cNvPr id="13" name="Text 10"/>
          <p:cNvSpPr/>
          <p:nvPr/>
        </p:nvSpPr>
        <p:spPr>
          <a:xfrm>
            <a:off x="181566" y="6540500"/>
            <a:ext cx="763072" cy="177800"/>
          </a:xfrm>
          <a:prstGeom prst="rect">
            <a:avLst/>
          </a:prstGeom>
          <a:noFill/>
          <a:ln/>
        </p:spPr>
        <p:txBody>
          <a:bodyPr wrap="none" lIns="0" tIns="0" rIns="0" bIns="0" rtlCol="0" anchor="ctr"/>
          <a:lstStyle/>
          <a:p>
            <a:pPr algn="l" indent="0" marL="0">
              <a:lnSpc>
                <a:spcPct val="117000"/>
              </a:lnSpc>
              <a:buNone/>
            </a:pPr>
            <a:r>
              <a:rPr lang="en-US" sz="1000" dirty="0">
                <a:solidFill>
                  <a:srgbClr val="2A3134"/>
                </a:solidFill>
                <a:latin typeface="Public Sans" pitchFamily="34" charset="0"/>
                <a:ea typeface="Public Sans" pitchFamily="34" charset="-122"/>
                <a:cs typeface="Public Sans" pitchFamily="34" charset="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91173"/>
            <a:ext cx="6400640"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111618"/>
                </a:solidFill>
                <a:latin typeface="Sofia Sans Extra Condensed ExtraBold" pitchFamily="34" charset="0"/>
                <a:ea typeface="Sofia Sans Extra Condensed ExtraBold" pitchFamily="34" charset="-122"/>
                <a:cs typeface="Sofia Sans Extra Condensed ExtraBold" pitchFamily="34" charset="0"/>
              </a:rPr>
              <a:t>ONE ACCOUNT CONNECTS THE CARE JOURNEY</a:t>
            </a:r>
            <a:endParaRPr lang="en-US" sz="4400" dirty="0"/>
          </a:p>
        </p:txBody>
      </p:sp>
      <p:sp>
        <p:nvSpPr>
          <p:cNvPr id="3" name="Text 1"/>
          <p:cNvSpPr/>
          <p:nvPr/>
        </p:nvSpPr>
        <p:spPr>
          <a:xfrm>
            <a:off x="457189" y="1668066"/>
            <a:ext cx="6400640"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2A3134"/>
                </a:solidFill>
                <a:latin typeface="Public Sans" pitchFamily="34" charset="0"/>
                <a:ea typeface="Public Sans" pitchFamily="34" charset="-122"/>
                <a:cs typeface="Public Sans" pitchFamily="34" charset="0"/>
              </a:rPr>
              <a:t>LifeLink brings discovery, requests, booking, and follow-up into one place.</a:t>
            </a:r>
            <a:endParaRPr lang="en-US" sz="1500" dirty="0"/>
          </a:p>
        </p:txBody>
      </p:sp>
      <p:pic>
        <p:nvPicPr>
          <p:cNvPr id="4" name="Image 0" descr="preencoded.png">    </p:cNvPr>
          <p:cNvPicPr>
            <a:picLocks noChangeAspect="1"/>
          </p:cNvPicPr>
          <p:nvPr/>
        </p:nvPicPr>
        <p:blipFill>
          <a:blip r:embed="rId1"/>
          <a:stretch>
            <a:fillRect/>
          </a:stretch>
        </p:blipFill>
        <p:spPr>
          <a:xfrm>
            <a:off x="457189" y="2500233"/>
            <a:ext cx="380990" cy="381000"/>
          </a:xfrm>
          <a:prstGeom prst="rect">
            <a:avLst/>
          </a:prstGeom>
        </p:spPr>
      </p:pic>
      <p:sp>
        <p:nvSpPr>
          <p:cNvPr id="5" name="Text 2"/>
          <p:cNvSpPr/>
          <p:nvPr/>
        </p:nvSpPr>
        <p:spPr>
          <a:xfrm>
            <a:off x="990575" y="2503071"/>
            <a:ext cx="5867253" cy="274241"/>
          </a:xfrm>
          <a:prstGeom prst="rect">
            <a:avLst/>
          </a:prstGeom>
          <a:noFill/>
          <a:ln/>
        </p:spPr>
        <p:txBody>
          <a:bodyPr wrap="none" lIns="0" tIns="0" rIns="0" bIns="0" rtlCol="0" anchor="t"/>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Blood donor and recipient requests.</a:t>
            </a:r>
            <a:endParaRPr lang="en-US" sz="1600" dirty="0"/>
          </a:p>
        </p:txBody>
      </p:sp>
      <p:pic>
        <p:nvPicPr>
          <p:cNvPr id="6" name="Image 1" descr="preencoded.png">    </p:cNvPr>
          <p:cNvPicPr>
            <a:picLocks noChangeAspect="1"/>
          </p:cNvPicPr>
          <p:nvPr/>
        </p:nvPicPr>
        <p:blipFill>
          <a:blip r:embed="rId2"/>
          <a:stretch>
            <a:fillRect/>
          </a:stretch>
        </p:blipFill>
        <p:spPr>
          <a:xfrm>
            <a:off x="457189" y="3562469"/>
            <a:ext cx="380990" cy="381000"/>
          </a:xfrm>
          <a:prstGeom prst="rect">
            <a:avLst/>
          </a:prstGeom>
        </p:spPr>
      </p:pic>
      <p:sp>
        <p:nvSpPr>
          <p:cNvPr id="7" name="Text 3"/>
          <p:cNvSpPr/>
          <p:nvPr/>
        </p:nvSpPr>
        <p:spPr>
          <a:xfrm>
            <a:off x="990575" y="3565307"/>
            <a:ext cx="5867253" cy="274241"/>
          </a:xfrm>
          <a:prstGeom prst="rect">
            <a:avLst/>
          </a:prstGeom>
          <a:noFill/>
          <a:ln/>
        </p:spPr>
        <p:txBody>
          <a:bodyPr wrap="none" lIns="0" tIns="0" rIns="0" bIns="0" rtlCol="0" anchor="t"/>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Official organ and tissue donation guidance.</a:t>
            </a:r>
            <a:endParaRPr lang="en-US" sz="1600" dirty="0"/>
          </a:p>
        </p:txBody>
      </p:sp>
      <p:pic>
        <p:nvPicPr>
          <p:cNvPr id="8" name="Image 2" descr="preencoded.png">    </p:cNvPr>
          <p:cNvPicPr>
            <a:picLocks noChangeAspect="1"/>
          </p:cNvPicPr>
          <p:nvPr/>
        </p:nvPicPr>
        <p:blipFill>
          <a:blip r:embed="rId3"/>
          <a:stretch>
            <a:fillRect/>
          </a:stretch>
        </p:blipFill>
        <p:spPr>
          <a:xfrm>
            <a:off x="457189" y="4624705"/>
            <a:ext cx="380990" cy="381000"/>
          </a:xfrm>
          <a:prstGeom prst="rect">
            <a:avLst/>
          </a:prstGeom>
        </p:spPr>
      </p:pic>
      <p:sp>
        <p:nvSpPr>
          <p:cNvPr id="9" name="Text 4"/>
          <p:cNvSpPr/>
          <p:nvPr/>
        </p:nvSpPr>
        <p:spPr>
          <a:xfrm>
            <a:off x="990575" y="4627543"/>
            <a:ext cx="5867253" cy="274241"/>
          </a:xfrm>
          <a:prstGeom prst="rect">
            <a:avLst/>
          </a:prstGeom>
          <a:noFill/>
          <a:ln/>
        </p:spPr>
        <p:txBody>
          <a:bodyPr wrap="none" lIns="0" tIns="0" rIns="0" bIns="0" rtlCol="0" anchor="t"/>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Diagnostic and medicine price comparison.</a:t>
            </a:r>
            <a:endParaRPr lang="en-US" sz="1600" dirty="0"/>
          </a:p>
        </p:txBody>
      </p:sp>
      <p:pic>
        <p:nvPicPr>
          <p:cNvPr id="10" name="Image 3" descr="preencoded.png">    </p:cNvPr>
          <p:cNvPicPr>
            <a:picLocks noChangeAspect="1"/>
          </p:cNvPicPr>
          <p:nvPr/>
        </p:nvPicPr>
        <p:blipFill>
          <a:blip r:embed="rId4"/>
          <a:stretch>
            <a:fillRect/>
          </a:stretch>
        </p:blipFill>
        <p:spPr>
          <a:xfrm>
            <a:off x="457189" y="5686941"/>
            <a:ext cx="380990" cy="381000"/>
          </a:xfrm>
          <a:prstGeom prst="rect">
            <a:avLst/>
          </a:prstGeom>
        </p:spPr>
      </p:pic>
      <p:sp>
        <p:nvSpPr>
          <p:cNvPr id="11" name="Text 5"/>
          <p:cNvSpPr/>
          <p:nvPr/>
        </p:nvSpPr>
        <p:spPr>
          <a:xfrm>
            <a:off x="990575" y="5689779"/>
            <a:ext cx="5867253" cy="548481"/>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Booking requests, notifications, and a personalized dashboard.</a:t>
            </a:r>
            <a:endParaRPr lang="en-US" sz="1600" dirty="0"/>
          </a:p>
        </p:txBody>
      </p:sp>
      <p:pic>
        <p:nvPicPr>
          <p:cNvPr id="12" name="Image 4" descr="preencoded.png">    </p:cNvPr>
          <p:cNvPicPr>
            <a:picLocks noChangeAspect="1"/>
          </p:cNvPicPr>
          <p:nvPr/>
        </p:nvPicPr>
        <p:blipFill>
          <a:blip r:embed="rId5"/>
          <a:stretch>
            <a:fillRect/>
          </a:stretch>
        </p:blipFill>
        <p:spPr>
          <a:xfrm>
            <a:off x="7315017" y="0"/>
            <a:ext cx="4876678" cy="6858000"/>
          </a:xfrm>
          <a:prstGeom prst="rect">
            <a:avLst/>
          </a:prstGeom>
        </p:spPr>
      </p:pic>
      <p:sp>
        <p:nvSpPr>
          <p:cNvPr id="13" name="Shape 6"/>
          <p:cNvSpPr/>
          <p:nvPr/>
        </p:nvSpPr>
        <p:spPr>
          <a:xfrm>
            <a:off x="457189" y="3162102"/>
            <a:ext cx="6400640" cy="12700"/>
          </a:xfrm>
          <a:prstGeom prst="rect">
            <a:avLst/>
          </a:prstGeom>
          <a:solidFill>
            <a:srgbClr val="CFCEC5"/>
          </a:solidFill>
          <a:ln/>
        </p:spPr>
      </p:sp>
      <p:sp>
        <p:nvSpPr>
          <p:cNvPr id="14" name="Shape 7"/>
          <p:cNvSpPr/>
          <p:nvPr/>
        </p:nvSpPr>
        <p:spPr>
          <a:xfrm>
            <a:off x="457189" y="4224338"/>
            <a:ext cx="6400640" cy="12700"/>
          </a:xfrm>
          <a:prstGeom prst="rect">
            <a:avLst/>
          </a:prstGeom>
          <a:solidFill>
            <a:srgbClr val="CFCEC5"/>
          </a:solidFill>
          <a:ln/>
        </p:spPr>
      </p:sp>
      <p:sp>
        <p:nvSpPr>
          <p:cNvPr id="15" name="Shape 8"/>
          <p:cNvSpPr/>
          <p:nvPr/>
        </p:nvSpPr>
        <p:spPr>
          <a:xfrm>
            <a:off x="457189" y="5286573"/>
            <a:ext cx="6400640" cy="12700"/>
          </a:xfrm>
          <a:prstGeom prst="rect">
            <a:avLst/>
          </a:prstGeom>
          <a:solidFill>
            <a:srgbClr val="CFCEC5"/>
          </a:solidFill>
          <a:ln/>
        </p:spPr>
      </p:sp>
      <p:sp>
        <p:nvSpPr>
          <p:cNvPr id="16" name="Text 9"/>
          <p:cNvSpPr/>
          <p:nvPr/>
        </p:nvSpPr>
        <p:spPr>
          <a:xfrm>
            <a:off x="181566" y="6540500"/>
            <a:ext cx="766545" cy="177800"/>
          </a:xfrm>
          <a:prstGeom prst="rect">
            <a:avLst/>
          </a:prstGeom>
          <a:noFill/>
          <a:ln/>
        </p:spPr>
        <p:txBody>
          <a:bodyPr wrap="none" lIns="0" tIns="0" rIns="0" bIns="0" rtlCol="0" anchor="ctr"/>
          <a:lstStyle/>
          <a:p>
            <a:pPr algn="l" indent="0" marL="0">
              <a:lnSpc>
                <a:spcPct val="117000"/>
              </a:lnSpc>
              <a:buNone/>
            </a:pPr>
            <a:r>
              <a:rPr lang="en-US" sz="1000" dirty="0">
                <a:solidFill>
                  <a:srgbClr val="2A3134"/>
                </a:solidFill>
                <a:latin typeface="Public Sans" pitchFamily="34" charset="0"/>
                <a:ea typeface="Public Sans" pitchFamily="34" charset="-122"/>
                <a:cs typeface="Public Sans" pitchFamily="34" charset="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063898" cy="6858000"/>
          </a:xfrm>
          <a:prstGeom prst="rect">
            <a:avLst/>
          </a:prstGeom>
        </p:spPr>
      </p:pic>
      <p:sp>
        <p:nvSpPr>
          <p:cNvPr id="3" name="Text 0"/>
          <p:cNvSpPr/>
          <p:nvPr/>
        </p:nvSpPr>
        <p:spPr>
          <a:xfrm>
            <a:off x="4521087" y="491173"/>
            <a:ext cx="7213420"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111618"/>
                </a:solidFill>
                <a:latin typeface="Sofia Sans Extra Condensed ExtraBold" pitchFamily="34" charset="0"/>
                <a:ea typeface="Sofia Sans Extra Condensed ExtraBold" pitchFamily="34" charset="-122"/>
                <a:cs typeface="Sofia Sans Extra Condensed ExtraBold" pitchFamily="34" charset="0"/>
              </a:rPr>
              <a:t>BLOOD REQUESTS BECOME A GUIDED MATCHING WORKFLOW</a:t>
            </a:r>
            <a:endParaRPr lang="en-US" sz="4400" dirty="0"/>
          </a:p>
        </p:txBody>
      </p:sp>
      <p:sp>
        <p:nvSpPr>
          <p:cNvPr id="4" name="Text 1"/>
          <p:cNvSpPr/>
          <p:nvPr/>
        </p:nvSpPr>
        <p:spPr>
          <a:xfrm>
            <a:off x="4521087" y="1675051"/>
            <a:ext cx="7670608" cy="181570"/>
          </a:xfrm>
          <a:prstGeom prst="rect">
            <a:avLst/>
          </a:prstGeom>
          <a:noFill/>
          <a:ln/>
        </p:spPr>
        <p:txBody>
          <a:bodyPr wrap="none" lIns="0" tIns="0" rIns="0" bIns="0" rtlCol="0" anchor="t"/>
          <a:lstStyle/>
          <a:p>
            <a:pPr algn="l" indent="0" marL="0">
              <a:lnSpc>
                <a:spcPct val="108000"/>
              </a:lnSpc>
              <a:buNone/>
            </a:pPr>
            <a:r>
              <a:rPr lang="en-US" sz="1100" spc="66" kern="100" dirty="0">
                <a:solidFill>
                  <a:srgbClr val="566064"/>
                </a:solidFill>
                <a:latin typeface="IBM Plex Mono" pitchFamily="34" charset="0"/>
                <a:ea typeface="IBM Plex Mono" pitchFamily="34" charset="-122"/>
                <a:cs typeface="IBM Plex Mono" pitchFamily="34" charset="0"/>
              </a:rPr>
              <a:t>DONOR → RECIPIENT → VERIFIED CLINICAL CONNECTION</a:t>
            </a:r>
            <a:endParaRPr lang="en-US" sz="1100" dirty="0"/>
          </a:p>
        </p:txBody>
      </p:sp>
      <p:pic>
        <p:nvPicPr>
          <p:cNvPr id="5" name="Image 1" descr="preencoded.png">    </p:cNvPr>
          <p:cNvPicPr>
            <a:picLocks noChangeAspect="1"/>
          </p:cNvPicPr>
          <p:nvPr/>
        </p:nvPicPr>
        <p:blipFill>
          <a:blip r:embed="rId2"/>
          <a:stretch>
            <a:fillRect/>
          </a:stretch>
        </p:blipFill>
        <p:spPr>
          <a:xfrm>
            <a:off x="4521087" y="1982986"/>
            <a:ext cx="7213420" cy="3110706"/>
          </a:xfrm>
          <a:prstGeom prst="rect">
            <a:avLst/>
          </a:prstGeom>
        </p:spPr>
      </p:pic>
      <p:sp>
        <p:nvSpPr>
          <p:cNvPr id="6" name="Text 2"/>
          <p:cNvSpPr/>
          <p:nvPr/>
        </p:nvSpPr>
        <p:spPr>
          <a:xfrm>
            <a:off x="5008223" y="2348024"/>
            <a:ext cx="3966924" cy="207691"/>
          </a:xfrm>
          <a:prstGeom prst="rect">
            <a:avLst/>
          </a:prstGeom>
          <a:noFill/>
          <a:ln/>
        </p:spPr>
        <p:txBody>
          <a:bodyPr wrap="none" lIns="0" tIns="0" rIns="0" bIns="0" rtlCol="0" anchor="t"/>
          <a:lstStyle/>
          <a:p>
            <a:pPr algn="l" indent="0" marL="0">
              <a:lnSpc>
                <a:spcPct val="113000"/>
              </a:lnSpc>
              <a:buNone/>
            </a:pPr>
            <a:r>
              <a:rPr lang="en-US" sz="1200" dirty="0">
                <a:solidFill>
                  <a:srgbClr val="FFFFFF"/>
                </a:solidFill>
                <a:latin typeface="Sofia Sans Extra Condensed ExtraBold" pitchFamily="34" charset="0"/>
                <a:ea typeface="Sofia Sans Extra Condensed ExtraBold" pitchFamily="34" charset="-122"/>
                <a:cs typeface="Sofia Sans Extra Condensed ExtraBold" pitchFamily="34" charset="0"/>
              </a:rPr>
              <a:t>DONOR REGISTERS</a:t>
            </a:r>
            <a:endParaRPr lang="en-US" sz="1200" dirty="0"/>
          </a:p>
        </p:txBody>
      </p:sp>
      <p:sp>
        <p:nvSpPr>
          <p:cNvPr id="7" name="Text 3"/>
          <p:cNvSpPr/>
          <p:nvPr/>
        </p:nvSpPr>
        <p:spPr>
          <a:xfrm>
            <a:off x="5008223" y="3069382"/>
            <a:ext cx="3966924" cy="207691"/>
          </a:xfrm>
          <a:prstGeom prst="rect">
            <a:avLst/>
          </a:prstGeom>
          <a:noFill/>
          <a:ln/>
        </p:spPr>
        <p:txBody>
          <a:bodyPr wrap="none" lIns="0" tIns="0" rIns="0" bIns="0" rtlCol="0" anchor="t"/>
          <a:lstStyle/>
          <a:p>
            <a:pPr algn="l" indent="0" marL="0">
              <a:lnSpc>
                <a:spcPct val="113000"/>
              </a:lnSpc>
              <a:buNone/>
            </a:pPr>
            <a:r>
              <a:rPr lang="en-US" sz="1200" dirty="0">
                <a:solidFill>
                  <a:srgbClr val="FFFFFF"/>
                </a:solidFill>
                <a:latin typeface="Sofia Sans Extra Condensed ExtraBold" pitchFamily="34" charset="0"/>
                <a:ea typeface="Sofia Sans Extra Condensed ExtraBold" pitchFamily="34" charset="-122"/>
                <a:cs typeface="Sofia Sans Extra Condensed ExtraBold" pitchFamily="34" charset="0"/>
              </a:rPr>
              <a:t>REQUEST SUBMITTED</a:t>
            </a:r>
            <a:endParaRPr lang="en-US" sz="1200" dirty="0"/>
          </a:p>
        </p:txBody>
      </p:sp>
      <p:sp>
        <p:nvSpPr>
          <p:cNvPr id="8" name="Text 4"/>
          <p:cNvSpPr/>
          <p:nvPr/>
        </p:nvSpPr>
        <p:spPr>
          <a:xfrm>
            <a:off x="5008223" y="3783528"/>
            <a:ext cx="3966924" cy="207691"/>
          </a:xfrm>
          <a:prstGeom prst="rect">
            <a:avLst/>
          </a:prstGeom>
          <a:noFill/>
          <a:ln/>
        </p:spPr>
        <p:txBody>
          <a:bodyPr wrap="none" lIns="0" tIns="0" rIns="0" bIns="0" rtlCol="0" anchor="t"/>
          <a:lstStyle/>
          <a:p>
            <a:pPr algn="l" indent="0" marL="0">
              <a:lnSpc>
                <a:spcPct val="113000"/>
              </a:lnSpc>
              <a:buNone/>
            </a:pPr>
            <a:r>
              <a:rPr lang="en-US" sz="1200" dirty="0">
                <a:solidFill>
                  <a:srgbClr val="FFFFFF"/>
                </a:solidFill>
                <a:latin typeface="Sofia Sans Extra Condensed ExtraBold" pitchFamily="34" charset="0"/>
                <a:ea typeface="Sofia Sans Extra Condensed ExtraBold" pitchFamily="34" charset="-122"/>
                <a:cs typeface="Sofia Sans Extra Condensed ExtraBold" pitchFamily="34" charset="0"/>
              </a:rPr>
              <a:t>MATCH &amp; SURFACE</a:t>
            </a:r>
            <a:endParaRPr lang="en-US" sz="1200" dirty="0"/>
          </a:p>
        </p:txBody>
      </p:sp>
      <p:sp>
        <p:nvSpPr>
          <p:cNvPr id="9" name="Text 5"/>
          <p:cNvSpPr/>
          <p:nvPr/>
        </p:nvSpPr>
        <p:spPr>
          <a:xfrm>
            <a:off x="5008223" y="4497673"/>
            <a:ext cx="3966924" cy="207691"/>
          </a:xfrm>
          <a:prstGeom prst="rect">
            <a:avLst/>
          </a:prstGeom>
          <a:noFill/>
          <a:ln/>
        </p:spPr>
        <p:txBody>
          <a:bodyPr wrap="none" lIns="0" tIns="0" rIns="0" bIns="0" rtlCol="0" anchor="t"/>
          <a:lstStyle/>
          <a:p>
            <a:pPr algn="l" indent="0" marL="0">
              <a:lnSpc>
                <a:spcPct val="113000"/>
              </a:lnSpc>
              <a:buNone/>
            </a:pPr>
            <a:r>
              <a:rPr lang="en-US" sz="1200" dirty="0">
                <a:solidFill>
                  <a:srgbClr val="FFFFFF"/>
                </a:solidFill>
                <a:latin typeface="Sofia Sans Extra Condensed ExtraBold" pitchFamily="34" charset="0"/>
                <a:ea typeface="Sofia Sans Extra Condensed ExtraBold" pitchFamily="34" charset="-122"/>
                <a:cs typeface="Sofia Sans Extra Condensed ExtraBold" pitchFamily="34" charset="0"/>
              </a:rPr>
              <a:t>NOTIFY &amp; CONFIRM</a:t>
            </a:r>
            <a:endParaRPr lang="en-US" sz="1200" dirty="0"/>
          </a:p>
        </p:txBody>
      </p:sp>
      <p:sp>
        <p:nvSpPr>
          <p:cNvPr id="10" name="Text 6"/>
          <p:cNvSpPr/>
          <p:nvPr/>
        </p:nvSpPr>
        <p:spPr>
          <a:xfrm>
            <a:off x="4521087" y="5227042"/>
            <a:ext cx="7670608" cy="231080"/>
          </a:xfrm>
          <a:prstGeom prst="rect">
            <a:avLst/>
          </a:prstGeom>
          <a:noFill/>
          <a:ln/>
        </p:spPr>
        <p:txBody>
          <a:bodyPr wrap="none" lIns="0" tIns="0" rIns="0" bIns="0" rtlCol="0" anchor="t"/>
          <a:lstStyle/>
          <a:p>
            <a:pPr algn="l" indent="0" marL="0">
              <a:lnSpc>
                <a:spcPct val="117000"/>
              </a:lnSpc>
              <a:buNone/>
            </a:pPr>
            <a:r>
              <a:rPr lang="en-US" sz="1300" dirty="0">
                <a:solidFill>
                  <a:srgbClr val="2A3134"/>
                </a:solidFill>
                <a:latin typeface="Public Sans" pitchFamily="34" charset="0"/>
                <a:ea typeface="Public Sans" pitchFamily="34" charset="-122"/>
                <a:cs typeface="Public Sans" pitchFamily="34" charset="0"/>
              </a:rPr>
              <a:t>Clinical confirmation happens with a verified blood bank or hospital.</a:t>
            </a:r>
            <a:endParaRPr lang="en-US" sz="1300" dirty="0"/>
          </a:p>
        </p:txBody>
      </p:sp>
      <p:sp>
        <p:nvSpPr>
          <p:cNvPr id="11" name="Text 7"/>
          <p:cNvSpPr/>
          <p:nvPr/>
        </p:nvSpPr>
        <p:spPr>
          <a:xfrm>
            <a:off x="11852772" y="6540500"/>
            <a:ext cx="338923" cy="177800"/>
          </a:xfrm>
          <a:prstGeom prst="rect">
            <a:avLst/>
          </a:prstGeom>
          <a:noFill/>
          <a:ln/>
        </p:spPr>
        <p:txBody>
          <a:bodyPr wrap="none" lIns="0" tIns="0" rIns="0" bIns="0" rtlCol="0" anchor="ctr"/>
          <a:lstStyle/>
          <a:p>
            <a:pPr algn="l" indent="0" marL="0">
              <a:lnSpc>
                <a:spcPct val="117000"/>
              </a:lnSpc>
              <a:buNone/>
            </a:pPr>
            <a:r>
              <a:rPr lang="en-US" sz="1000" dirty="0">
                <a:solidFill>
                  <a:srgbClr val="2A3134"/>
                </a:solidFill>
                <a:latin typeface="Public Sans" pitchFamily="34" charset="0"/>
                <a:ea typeface="Public Sans" pitchFamily="34" charset="-122"/>
                <a:cs typeface="Public Sans" pitchFamily="34" charset="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91173"/>
            <a:ext cx="6400640"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111618"/>
                </a:solidFill>
                <a:latin typeface="Sofia Sans Extra Condensed ExtraBold" pitchFamily="34" charset="0"/>
                <a:ea typeface="Sofia Sans Extra Condensed ExtraBold" pitchFamily="34" charset="-122"/>
                <a:cs typeface="Sofia Sans Extra Condensed ExtraBold" pitchFamily="34" charset="0"/>
              </a:rPr>
              <a:t>DONATION GUIDANCE STARTS WITH INFORMED CONSENT</a:t>
            </a:r>
            <a:endParaRPr lang="en-US" sz="4400" dirty="0"/>
          </a:p>
        </p:txBody>
      </p:sp>
      <p:pic>
        <p:nvPicPr>
          <p:cNvPr id="3" name="Image 0" descr="preencoded.png">    </p:cNvPr>
          <p:cNvPicPr>
            <a:picLocks noChangeAspect="1"/>
          </p:cNvPicPr>
          <p:nvPr/>
        </p:nvPicPr>
        <p:blipFill>
          <a:blip r:embed="rId1"/>
          <a:stretch>
            <a:fillRect/>
          </a:stretch>
        </p:blipFill>
        <p:spPr>
          <a:xfrm>
            <a:off x="457189" y="1668085"/>
            <a:ext cx="380990" cy="381000"/>
          </a:xfrm>
          <a:prstGeom prst="rect">
            <a:avLst/>
          </a:prstGeom>
        </p:spPr>
      </p:pic>
      <p:sp>
        <p:nvSpPr>
          <p:cNvPr id="4" name="Text 1"/>
          <p:cNvSpPr/>
          <p:nvPr/>
        </p:nvSpPr>
        <p:spPr>
          <a:xfrm>
            <a:off x="990575" y="1670923"/>
            <a:ext cx="5867253" cy="548481"/>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Explain organ and tissue donation, including heart, liver, lungs, kidneys, corneas, and eligible tissues.</a:t>
            </a:r>
            <a:endParaRPr lang="en-US" sz="1600" dirty="0"/>
          </a:p>
        </p:txBody>
      </p:sp>
      <p:pic>
        <p:nvPicPr>
          <p:cNvPr id="5" name="Image 1" descr="preencoded.png">    </p:cNvPr>
          <p:cNvPicPr>
            <a:picLocks noChangeAspect="1"/>
          </p:cNvPicPr>
          <p:nvPr/>
        </p:nvPicPr>
        <p:blipFill>
          <a:blip r:embed="rId2"/>
          <a:stretch>
            <a:fillRect/>
          </a:stretch>
        </p:blipFill>
        <p:spPr>
          <a:xfrm>
            <a:off x="457189" y="2746494"/>
            <a:ext cx="380990" cy="381000"/>
          </a:xfrm>
          <a:prstGeom prst="rect">
            <a:avLst/>
          </a:prstGeom>
        </p:spPr>
      </p:pic>
      <p:sp>
        <p:nvSpPr>
          <p:cNvPr id="6" name="Text 2"/>
          <p:cNvSpPr/>
          <p:nvPr/>
        </p:nvSpPr>
        <p:spPr>
          <a:xfrm>
            <a:off x="990575" y="2749332"/>
            <a:ext cx="5867253" cy="274241"/>
          </a:xfrm>
          <a:prstGeom prst="rect">
            <a:avLst/>
          </a:prstGeom>
          <a:noFill/>
          <a:ln/>
        </p:spPr>
        <p:txBody>
          <a:bodyPr wrap="none" lIns="0" tIns="0" rIns="0" bIns="0" rtlCol="0" anchor="t"/>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Guide users to record intentions and official pledge services.</a:t>
            </a:r>
            <a:endParaRPr lang="en-US" sz="1600" dirty="0"/>
          </a:p>
        </p:txBody>
      </p:sp>
      <p:pic>
        <p:nvPicPr>
          <p:cNvPr id="7" name="Image 2" descr="preencoded.png">    </p:cNvPr>
          <p:cNvPicPr>
            <a:picLocks noChangeAspect="1"/>
          </p:cNvPicPr>
          <p:nvPr/>
        </p:nvPicPr>
        <p:blipFill>
          <a:blip r:embed="rId3"/>
          <a:stretch>
            <a:fillRect/>
          </a:stretch>
        </p:blipFill>
        <p:spPr>
          <a:xfrm>
            <a:off x="457189" y="3550662"/>
            <a:ext cx="380990" cy="381000"/>
          </a:xfrm>
          <a:prstGeom prst="rect">
            <a:avLst/>
          </a:prstGeom>
        </p:spPr>
      </p:pic>
      <p:sp>
        <p:nvSpPr>
          <p:cNvPr id="8" name="Text 3"/>
          <p:cNvSpPr/>
          <p:nvPr/>
        </p:nvSpPr>
        <p:spPr>
          <a:xfrm>
            <a:off x="990575" y="3553500"/>
            <a:ext cx="5867253" cy="548481"/>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Connect families and authorized transplant coordinators with approved centres.</a:t>
            </a:r>
            <a:endParaRPr lang="en-US" sz="1600" dirty="0"/>
          </a:p>
        </p:txBody>
      </p:sp>
      <p:pic>
        <p:nvPicPr>
          <p:cNvPr id="9" name="Image 3" descr="preencoded.png">    </p:cNvPr>
          <p:cNvPicPr>
            <a:picLocks noChangeAspect="1"/>
          </p:cNvPicPr>
          <p:nvPr/>
        </p:nvPicPr>
        <p:blipFill>
          <a:blip r:embed="rId4"/>
          <a:stretch>
            <a:fillRect/>
          </a:stretch>
        </p:blipFill>
        <p:spPr>
          <a:xfrm>
            <a:off x="457189" y="4629071"/>
            <a:ext cx="380990" cy="381000"/>
          </a:xfrm>
          <a:prstGeom prst="rect">
            <a:avLst/>
          </a:prstGeom>
        </p:spPr>
      </p:pic>
      <p:sp>
        <p:nvSpPr>
          <p:cNvPr id="10" name="Text 4"/>
          <p:cNvSpPr/>
          <p:nvPr/>
        </p:nvSpPr>
        <p:spPr>
          <a:xfrm>
            <a:off x="990575" y="4631908"/>
            <a:ext cx="5867253" cy="822722"/>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Organ allocation, suitability, consent verification, and transplantation follow applicable Indian laws and authorized medical procedures.</a:t>
            </a:r>
            <a:endParaRPr lang="en-US" sz="1600" dirty="0"/>
          </a:p>
        </p:txBody>
      </p:sp>
      <p:sp>
        <p:nvSpPr>
          <p:cNvPr id="11" name="Shape 5"/>
          <p:cNvSpPr/>
          <p:nvPr/>
        </p:nvSpPr>
        <p:spPr>
          <a:xfrm>
            <a:off x="457189" y="5657850"/>
            <a:ext cx="6400640" cy="742950"/>
          </a:xfrm>
          <a:prstGeom prst="roundRect">
            <a:avLst>
              <a:gd name="adj" fmla="val 3846"/>
            </a:avLst>
          </a:prstGeom>
          <a:solidFill>
            <a:srgbClr val="FCF2B5"/>
          </a:solidFill>
          <a:ln/>
        </p:spPr>
      </p:sp>
      <p:sp>
        <p:nvSpPr>
          <p:cNvPr id="12" name="Text 6"/>
          <p:cNvSpPr/>
          <p:nvPr/>
        </p:nvSpPr>
        <p:spPr>
          <a:xfrm>
            <a:off x="647684" y="5895975"/>
            <a:ext cx="6629234" cy="266700"/>
          </a:xfrm>
          <a:prstGeom prst="rect">
            <a:avLst/>
          </a:prstGeom>
          <a:noFill/>
          <a:ln/>
        </p:spPr>
        <p:txBody>
          <a:bodyPr wrap="none" lIns="0" tIns="0" rIns="0" bIns="0" rtlCol="0" anchor="t"/>
          <a:lstStyle/>
          <a:p>
            <a:pPr algn="l" indent="0" marL="0">
              <a:lnSpc>
                <a:spcPct val="117000"/>
              </a:lnSpc>
              <a:buNone/>
            </a:pPr>
            <a:r>
              <a:rPr lang="en-US" sz="1500" dirty="0">
                <a:solidFill>
                  <a:srgbClr val="000000"/>
                </a:solidFill>
                <a:latin typeface="Public Sans" pitchFamily="34" charset="0"/>
                <a:ea typeface="Public Sans" pitchFamily="34" charset="-122"/>
                <a:cs typeface="Public Sans" pitchFamily="34" charset="0"/>
              </a:rPr>
              <a:t>LifeLink is not an independent allocation system.</a:t>
            </a:r>
            <a:endParaRPr lang="en-US" sz="1500" dirty="0"/>
          </a:p>
        </p:txBody>
      </p:sp>
      <p:pic>
        <p:nvPicPr>
          <p:cNvPr id="13" name="Image 4" descr="preencoded.png">    </p:cNvPr>
          <p:cNvPicPr>
            <a:picLocks noChangeAspect="1"/>
          </p:cNvPicPr>
          <p:nvPr/>
        </p:nvPicPr>
        <p:blipFill>
          <a:blip r:embed="rId5"/>
          <a:stretch>
            <a:fillRect/>
          </a:stretch>
        </p:blipFill>
        <p:spPr>
          <a:xfrm>
            <a:off x="7315017" y="0"/>
            <a:ext cx="4876678" cy="6858000"/>
          </a:xfrm>
          <a:prstGeom prst="rect">
            <a:avLst/>
          </a:prstGeom>
        </p:spPr>
      </p:pic>
      <p:sp>
        <p:nvSpPr>
          <p:cNvPr id="14" name="Shape 7"/>
          <p:cNvSpPr/>
          <p:nvPr/>
        </p:nvSpPr>
        <p:spPr>
          <a:xfrm>
            <a:off x="457189" y="2511524"/>
            <a:ext cx="6400640" cy="12700"/>
          </a:xfrm>
          <a:prstGeom prst="rect">
            <a:avLst/>
          </a:prstGeom>
          <a:solidFill>
            <a:srgbClr val="CFCEC5"/>
          </a:solidFill>
          <a:ln/>
        </p:spPr>
      </p:sp>
      <p:sp>
        <p:nvSpPr>
          <p:cNvPr id="15" name="Shape 8"/>
          <p:cNvSpPr/>
          <p:nvPr/>
        </p:nvSpPr>
        <p:spPr>
          <a:xfrm>
            <a:off x="457189" y="3315692"/>
            <a:ext cx="6400640" cy="12700"/>
          </a:xfrm>
          <a:prstGeom prst="rect">
            <a:avLst/>
          </a:prstGeom>
          <a:solidFill>
            <a:srgbClr val="CFCEC5"/>
          </a:solidFill>
          <a:ln/>
        </p:spPr>
      </p:sp>
      <p:sp>
        <p:nvSpPr>
          <p:cNvPr id="16" name="Shape 9"/>
          <p:cNvSpPr/>
          <p:nvPr/>
        </p:nvSpPr>
        <p:spPr>
          <a:xfrm>
            <a:off x="457189" y="4394101"/>
            <a:ext cx="6400640" cy="12700"/>
          </a:xfrm>
          <a:prstGeom prst="rect">
            <a:avLst/>
          </a:prstGeom>
          <a:solidFill>
            <a:srgbClr val="CFCEC5"/>
          </a:solidFill>
          <a:ln/>
        </p:spPr>
      </p:sp>
      <p:sp>
        <p:nvSpPr>
          <p:cNvPr id="17" name="Text 10"/>
          <p:cNvSpPr/>
          <p:nvPr/>
        </p:nvSpPr>
        <p:spPr>
          <a:xfrm>
            <a:off x="181566" y="6540500"/>
            <a:ext cx="768728" cy="177800"/>
          </a:xfrm>
          <a:prstGeom prst="rect">
            <a:avLst/>
          </a:prstGeom>
          <a:noFill/>
          <a:ln/>
        </p:spPr>
        <p:txBody>
          <a:bodyPr wrap="none" lIns="0" tIns="0" rIns="0" bIns="0" rtlCol="0" anchor="ctr"/>
          <a:lstStyle/>
          <a:p>
            <a:pPr algn="l" indent="0" marL="0">
              <a:lnSpc>
                <a:spcPct val="117000"/>
              </a:lnSpc>
              <a:buNone/>
            </a:pPr>
            <a:r>
              <a:rPr lang="en-US" sz="1000" dirty="0">
                <a:solidFill>
                  <a:srgbClr val="2A3134"/>
                </a:solidFill>
                <a:latin typeface="Public Sans" pitchFamily="34" charset="0"/>
                <a:ea typeface="Public Sans" pitchFamily="34" charset="-122"/>
                <a:cs typeface="Public Sans" pitchFamily="34" charset="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91173"/>
            <a:ext cx="5181470"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111618"/>
                </a:solidFill>
                <a:latin typeface="Sofia Sans Extra Condensed ExtraBold" pitchFamily="34" charset="0"/>
                <a:ea typeface="Sofia Sans Extra Condensed ExtraBold" pitchFamily="34" charset="-122"/>
                <a:cs typeface="Sofia Sans Extra Condensed ExtraBold" pitchFamily="34" charset="0"/>
              </a:rPr>
              <a:t>COMPARE MEDICAL SERVICES BEFORE YOU BOOK</a:t>
            </a:r>
            <a:endParaRPr lang="en-US" sz="4400" dirty="0"/>
          </a:p>
        </p:txBody>
      </p:sp>
      <p:pic>
        <p:nvPicPr>
          <p:cNvPr id="3" name="Image 0" descr="preencoded.png">    </p:cNvPr>
          <p:cNvPicPr>
            <a:picLocks noChangeAspect="1"/>
          </p:cNvPicPr>
          <p:nvPr/>
        </p:nvPicPr>
        <p:blipFill>
          <a:blip r:embed="rId1"/>
          <a:stretch>
            <a:fillRect/>
          </a:stretch>
        </p:blipFill>
        <p:spPr>
          <a:xfrm>
            <a:off x="0" y="2514600"/>
            <a:ext cx="6095848" cy="4343400"/>
          </a:xfrm>
          <a:prstGeom prst="rect">
            <a:avLst/>
          </a:prstGeom>
        </p:spPr>
      </p:pic>
      <p:sp>
        <p:nvSpPr>
          <p:cNvPr id="4" name="Text 1"/>
          <p:cNvSpPr/>
          <p:nvPr/>
        </p:nvSpPr>
        <p:spPr>
          <a:xfrm>
            <a:off x="6553036" y="464185"/>
            <a:ext cx="5638659" cy="181570"/>
          </a:xfrm>
          <a:prstGeom prst="rect">
            <a:avLst/>
          </a:prstGeom>
          <a:noFill/>
          <a:ln/>
        </p:spPr>
        <p:txBody>
          <a:bodyPr wrap="none" lIns="0" tIns="0" rIns="0" bIns="0" rtlCol="0" anchor="t"/>
          <a:lstStyle/>
          <a:p>
            <a:pPr algn="l" indent="0" marL="0">
              <a:lnSpc>
                <a:spcPct val="108000"/>
              </a:lnSpc>
              <a:buNone/>
            </a:pPr>
            <a:r>
              <a:rPr lang="en-US" sz="1100" spc="66" kern="100" dirty="0">
                <a:solidFill>
                  <a:srgbClr val="566064"/>
                </a:solidFill>
                <a:latin typeface="IBM Plex Mono" pitchFamily="34" charset="0"/>
                <a:ea typeface="IBM Plex Mono" pitchFamily="34" charset="-122"/>
                <a:cs typeface="IBM Plex Mono" pitchFamily="34" charset="0"/>
              </a:rPr>
              <a:t>ILLUSTRATIVE DIAGNOSTIC COMPARISON · SAMPLE DATA</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53036" y="772120"/>
          <a:ext cx="5181470" cy="914400"/>
        </p:xfrm>
        <a:graphic>
          <a:graphicData uri="http://schemas.openxmlformats.org/drawingml/2006/table">
            <a:tbl>
              <a:tblPr/>
              <a:tblGrid>
                <a:gridCol w="936800"/>
                <a:gridCol w="1071833"/>
                <a:gridCol w="1014089"/>
                <a:gridCol w="1022126"/>
                <a:gridCol w="1136622"/>
              </a:tblGrid>
              <a:tr h="575256">
                <a:tc>
                  <a:txBody>
                    <a:bodyPr/>
                    <a:lstStyle/>
                    <a:p>
                      <a:pPr algn="l" indent="0" marL="0">
                        <a:buNone/>
                      </a:pPr>
                      <a:r>
                        <a:rPr lang="en-US" sz="1100" spc="66" kern="100" dirty="0">
                          <a:solidFill>
                            <a:srgbClr val="111618"/>
                          </a:solidFill>
                          <a:latin typeface="Public Sans" pitchFamily="34" charset="0"/>
                          <a:ea typeface="Public Sans" pitchFamily="34" charset="-122"/>
                          <a:cs typeface="Public Sans" pitchFamily="34" charset="0"/>
                        </a:rPr>
                        <a:t>TEST</a:t>
                      </a:r>
                      <a:endParaRPr lang="en-US" sz="11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F5F4EF"/>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c>
                  <a:txBody>
                    <a:bodyPr/>
                    <a:lstStyle/>
                    <a:p>
                      <a:pPr algn="l" indent="0" marL="0">
                        <a:buNone/>
                      </a:pPr>
                      <a:r>
                        <a:rPr lang="en-US" sz="1100" spc="66" kern="100" dirty="0">
                          <a:solidFill>
                            <a:srgbClr val="111618"/>
                          </a:solidFill>
                          <a:latin typeface="Public Sans" pitchFamily="34" charset="0"/>
                          <a:ea typeface="Public Sans" pitchFamily="34" charset="-122"/>
                          <a:cs typeface="Public Sans" pitchFamily="34" charset="0"/>
                        </a:rPr>
                        <a:t>PROVIDER</a:t>
                      </a:r>
                      <a:endParaRPr lang="en-US" sz="11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F5F4EF"/>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c>
                  <a:txBody>
                    <a:bodyPr/>
                    <a:lstStyle/>
                    <a:p>
                      <a:pPr algn="l" indent="0" marL="0">
                        <a:buNone/>
                      </a:pPr>
                      <a:r>
                        <a:rPr lang="en-US" sz="1100" spc="66" kern="100" dirty="0">
                          <a:solidFill>
                            <a:srgbClr val="111618"/>
                          </a:solidFill>
                          <a:latin typeface="Public Sans" pitchFamily="34" charset="0"/>
                          <a:ea typeface="Public Sans" pitchFamily="34" charset="-122"/>
                          <a:cs typeface="Public Sans" pitchFamily="34" charset="0"/>
                        </a:rPr>
                        <a:t>SAMPLE PRICE</a:t>
                      </a:r>
                      <a:endParaRPr lang="en-US" sz="11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F5F4EF"/>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c>
                  <a:txBody>
                    <a:bodyPr/>
                    <a:lstStyle/>
                    <a:p>
                      <a:pPr algn="l" indent="0" marL="0">
                        <a:buNone/>
                      </a:pPr>
                      <a:r>
                        <a:rPr lang="en-US" sz="1100" spc="66" kern="100" dirty="0">
                          <a:solidFill>
                            <a:srgbClr val="111618"/>
                          </a:solidFill>
                          <a:latin typeface="Public Sans" pitchFamily="34" charset="0"/>
                          <a:ea typeface="Public Sans" pitchFamily="34" charset="-122"/>
                          <a:cs typeface="Public Sans" pitchFamily="34" charset="0"/>
                        </a:rPr>
                        <a:t>DISTANCE</a:t>
                      </a:r>
                      <a:endParaRPr lang="en-US" sz="11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F5F4EF"/>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c>
                  <a:txBody>
                    <a:bodyPr/>
                    <a:lstStyle/>
                    <a:p>
                      <a:pPr algn="l" indent="0" marL="0">
                        <a:buNone/>
                      </a:pPr>
                      <a:r>
                        <a:rPr lang="en-US" sz="1100" spc="66" kern="100" dirty="0">
                          <a:solidFill>
                            <a:srgbClr val="111618"/>
                          </a:solidFill>
                          <a:latin typeface="Public Sans" pitchFamily="34" charset="0"/>
                          <a:ea typeface="Public Sans" pitchFamily="34" charset="-122"/>
                          <a:cs typeface="Public Sans" pitchFamily="34" charset="0"/>
                        </a:rPr>
                        <a:t>SLOT</a:t>
                      </a:r>
                      <a:endParaRPr lang="en-US" sz="11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F5F4EF"/>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r>
              <a:tr h="717532">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CBC</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Sample Lab A</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₹350 (sample)</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2.1 km</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10:30 AM</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r>
              <a:tr h="717532">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CBC</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Sample Lab B</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₹480 (sample)</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4.8 km</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12:00 PM</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CFCEC5"/>
                      </a:solidFill>
                      <a:prstDash val="solid"/>
                      <a:round/>
                      <a:headEnd type="none" w="med" len="med"/>
                      <a:tailEnd type="none" w="med" len="med"/>
                    </a:lnB>
                  </a:tcPr>
                </a:tc>
              </a:tr>
              <a:tr h="711182">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Thyroid panel</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F5F4EF"/>
                      </a:solidFill>
                      <a:prstDash val="solid"/>
                      <a:round/>
                      <a:headEnd type="none" w="med" len="med"/>
                      <a:tailEnd type="none" w="med" len="med"/>
                    </a:lnB>
                  </a:tcPr>
                </a:tc>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Sample Lab C</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F5F4EF"/>
                      </a:solidFill>
                      <a:prstDash val="solid"/>
                      <a:round/>
                      <a:headEnd type="none" w="med" len="med"/>
                      <a:tailEnd type="none" w="med" len="med"/>
                    </a:lnB>
                  </a:tcPr>
                </a:tc>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₹650 (sample)</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F5F4EF"/>
                      </a:solidFill>
                      <a:prstDash val="solid"/>
                      <a:round/>
                      <a:headEnd type="none" w="med" len="med"/>
                      <a:tailEnd type="none" w="med" len="med"/>
                    </a:lnB>
                  </a:tcPr>
                </a:tc>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3.4 km</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F5F4EF"/>
                      </a:solidFill>
                      <a:prstDash val="solid"/>
                      <a:round/>
                      <a:headEnd type="none" w="med" len="med"/>
                      <a:tailEnd type="none" w="med" len="med"/>
                    </a:lnB>
                  </a:tcPr>
                </a:tc>
                <a:tc>
                  <a:txBody>
                    <a:bodyPr/>
                    <a:lstStyle/>
                    <a:p>
                      <a:pPr algn="l" indent="0" marL="0">
                        <a:buNone/>
                      </a:pPr>
                      <a:r>
                        <a:rPr lang="en-US" sz="1500" dirty="0">
                          <a:solidFill>
                            <a:srgbClr val="2A3134"/>
                          </a:solidFill>
                          <a:latin typeface="Public Sans" pitchFamily="34" charset="0"/>
                          <a:ea typeface="Public Sans" pitchFamily="34" charset="-122"/>
                          <a:cs typeface="Public Sans" pitchFamily="34" charset="0"/>
                        </a:rPr>
                        <a:t>Tomorrow</a:t>
                      </a:r>
                      <a:endParaRPr lang="en-US" sz="1500" dirty="0">
                        <a:latin typeface="Public Sans" charset="0"/>
                        <a:ea typeface="Public Sans" charset="0"/>
                        <a:cs typeface="Public Sans" charset="0"/>
                      </a:endParaRPr>
                    </a:p>
                  </a:txBody>
                  <a:tcPr marL="126997" marR="126997" marT="88898" marB="88898" anchor="ctr">
                    <a:lnL w="12700" cap="flat" cmpd="sng" algn="ctr">
                      <a:solidFill>
                        <a:srgbClr val="F5F4EF"/>
                      </a:solidFill>
                      <a:prstDash val="solid"/>
                      <a:round/>
                      <a:headEnd type="none" w="med" len="med"/>
                      <a:tailEnd type="none" w="med" len="med"/>
                    </a:lnL>
                    <a:lnR w="12700" cap="flat" cmpd="sng" algn="ctr">
                      <a:solidFill>
                        <a:srgbClr val="F5F4EF"/>
                      </a:solidFill>
                      <a:prstDash val="solid"/>
                      <a:round/>
                      <a:headEnd type="none" w="med" len="med"/>
                      <a:tailEnd type="none" w="med" len="med"/>
                    </a:lnR>
                    <a:lnT w="12700" cap="flat" cmpd="sng" algn="ctr">
                      <a:solidFill>
                        <a:srgbClr val="CFCEC5"/>
                      </a:solidFill>
                      <a:prstDash val="solid"/>
                      <a:round/>
                      <a:headEnd type="none" w="med" len="med"/>
                      <a:tailEnd type="none" w="med" len="med"/>
                    </a:lnT>
                    <a:lnB w="12700" cap="flat" cmpd="sng" algn="ctr">
                      <a:solidFill>
                        <a:srgbClr val="F5F4EF"/>
                      </a:solidFill>
                      <a:prstDash val="solid"/>
                      <a:round/>
                      <a:headEnd type="none" w="med" len="med"/>
                      <a:tailEnd type="none" w="med" len="med"/>
                    </a:lnB>
                  </a:tcPr>
                </a:tc>
              </a:tr>
            </a:tbl>
          </a:graphicData>
        </a:graphic>
      </p:graphicFrame>
      <p:sp>
        <p:nvSpPr>
          <p:cNvPr id="6" name="Text 2"/>
          <p:cNvSpPr/>
          <p:nvPr/>
        </p:nvSpPr>
        <p:spPr>
          <a:xfrm>
            <a:off x="6553036" y="3627041"/>
            <a:ext cx="5181470" cy="10668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2A3134"/>
                </a:solidFill>
                <a:latin typeface="Public Sans" pitchFamily="34" charset="0"/>
                <a:ea typeface="Public Sans" pitchFamily="34" charset="-122"/>
                <a:cs typeface="Public Sans" pitchFamily="34" charset="0"/>
              </a:rPr>
              <a:t>Compare blood tests, CBC, thyroid tests, MRI, CT, and other diagnostics. Show sample prices, provider, location, distance, reviews, ratings, and appointment slots. Prototype values are sample data, not live market data.</a:t>
            </a:r>
            <a:endParaRPr lang="en-US" sz="1500" dirty="0"/>
          </a:p>
        </p:txBody>
      </p:sp>
      <p:sp>
        <p:nvSpPr>
          <p:cNvPr id="7" name="Text 3"/>
          <p:cNvSpPr/>
          <p:nvPr/>
        </p:nvSpPr>
        <p:spPr>
          <a:xfrm>
            <a:off x="11854161" y="6540500"/>
            <a:ext cx="337534" cy="177800"/>
          </a:xfrm>
          <a:prstGeom prst="rect">
            <a:avLst/>
          </a:prstGeom>
          <a:noFill/>
          <a:ln/>
        </p:spPr>
        <p:txBody>
          <a:bodyPr wrap="none" lIns="0" tIns="0" rIns="0" bIns="0" rtlCol="0" anchor="ctr"/>
          <a:lstStyle/>
          <a:p>
            <a:pPr algn="l" indent="0" marL="0">
              <a:lnSpc>
                <a:spcPct val="117000"/>
              </a:lnSpc>
              <a:buNone/>
            </a:pPr>
            <a:r>
              <a:rPr lang="en-US" sz="1000" dirty="0">
                <a:solidFill>
                  <a:srgbClr val="2A3134"/>
                </a:solidFill>
                <a:latin typeface="Public Sans" pitchFamily="34" charset="0"/>
                <a:ea typeface="Public Sans" pitchFamily="34" charset="-122"/>
                <a:cs typeface="Public Sans" pitchFamily="34" charset="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491173"/>
            <a:ext cx="6400640"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111618"/>
                </a:solidFill>
                <a:latin typeface="Sofia Sans Extra Condensed ExtraBold" pitchFamily="34" charset="0"/>
                <a:ea typeface="Sofia Sans Extra Condensed ExtraBold" pitchFamily="34" charset="-122"/>
                <a:cs typeface="Sofia Sans Extra Condensed ExtraBold" pitchFamily="34" charset="0"/>
              </a:rPr>
              <a:t>MEDICINE DISCOVERY BECOMES CLEARER AND SAFER</a:t>
            </a:r>
            <a:endParaRPr lang="en-US" sz="4400" dirty="0"/>
          </a:p>
        </p:txBody>
      </p:sp>
      <p:pic>
        <p:nvPicPr>
          <p:cNvPr id="3" name="Image 0" descr="preencoded.png">    </p:cNvPr>
          <p:cNvPicPr>
            <a:picLocks noChangeAspect="1"/>
          </p:cNvPicPr>
          <p:nvPr/>
        </p:nvPicPr>
        <p:blipFill>
          <a:blip r:embed="rId1"/>
          <a:stretch>
            <a:fillRect/>
          </a:stretch>
        </p:blipFill>
        <p:spPr>
          <a:xfrm>
            <a:off x="457189" y="1668085"/>
            <a:ext cx="380990" cy="381000"/>
          </a:xfrm>
          <a:prstGeom prst="rect">
            <a:avLst/>
          </a:prstGeom>
        </p:spPr>
      </p:pic>
      <p:sp>
        <p:nvSpPr>
          <p:cNvPr id="4" name="Text 1"/>
          <p:cNvSpPr/>
          <p:nvPr/>
        </p:nvSpPr>
        <p:spPr>
          <a:xfrm>
            <a:off x="990575" y="1670923"/>
            <a:ext cx="5867253" cy="548481"/>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Compare medicine name, generic name, composition, strength, dosage form, pack size, and price.</a:t>
            </a:r>
            <a:endParaRPr lang="en-US" sz="1600" dirty="0"/>
          </a:p>
        </p:txBody>
      </p:sp>
      <p:pic>
        <p:nvPicPr>
          <p:cNvPr id="5" name="Image 1" descr="preencoded.png">    </p:cNvPr>
          <p:cNvPicPr>
            <a:picLocks noChangeAspect="1"/>
          </p:cNvPicPr>
          <p:nvPr/>
        </p:nvPicPr>
        <p:blipFill>
          <a:blip r:embed="rId2"/>
          <a:stretch>
            <a:fillRect/>
          </a:stretch>
        </p:blipFill>
        <p:spPr>
          <a:xfrm>
            <a:off x="457189" y="3398064"/>
            <a:ext cx="380990" cy="381000"/>
          </a:xfrm>
          <a:prstGeom prst="rect">
            <a:avLst/>
          </a:prstGeom>
        </p:spPr>
      </p:pic>
      <p:sp>
        <p:nvSpPr>
          <p:cNvPr id="6" name="Text 2"/>
          <p:cNvSpPr/>
          <p:nvPr/>
        </p:nvSpPr>
        <p:spPr>
          <a:xfrm>
            <a:off x="990575" y="3400901"/>
            <a:ext cx="5867253" cy="548481"/>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Show verified pharmacy location, stock availability, and pickup or delivery options.</a:t>
            </a:r>
            <a:endParaRPr lang="en-US" sz="1600" dirty="0"/>
          </a:p>
        </p:txBody>
      </p:sp>
      <p:pic>
        <p:nvPicPr>
          <p:cNvPr id="7" name="Image 2" descr="preencoded.png">    </p:cNvPr>
          <p:cNvPicPr>
            <a:picLocks noChangeAspect="1"/>
          </p:cNvPicPr>
          <p:nvPr/>
        </p:nvPicPr>
        <p:blipFill>
          <a:blip r:embed="rId3"/>
          <a:stretch>
            <a:fillRect/>
          </a:stretch>
        </p:blipFill>
        <p:spPr>
          <a:xfrm>
            <a:off x="457189" y="5128042"/>
            <a:ext cx="380990" cy="381000"/>
          </a:xfrm>
          <a:prstGeom prst="rect">
            <a:avLst/>
          </a:prstGeom>
        </p:spPr>
      </p:pic>
      <p:sp>
        <p:nvSpPr>
          <p:cNvPr id="8" name="Text 3"/>
          <p:cNvSpPr/>
          <p:nvPr/>
        </p:nvSpPr>
        <p:spPr>
          <a:xfrm>
            <a:off x="990575" y="5130879"/>
            <a:ext cx="5867253" cy="548481"/>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Compare equivalent medicines accurately and follow prescription requirements.</a:t>
            </a:r>
            <a:endParaRPr lang="en-US" sz="1600" dirty="0"/>
          </a:p>
        </p:txBody>
      </p:sp>
      <p:sp>
        <p:nvSpPr>
          <p:cNvPr id="9" name="Shape 4"/>
          <p:cNvSpPr/>
          <p:nvPr/>
        </p:nvSpPr>
        <p:spPr>
          <a:xfrm>
            <a:off x="7315017" y="0"/>
            <a:ext cx="4876678" cy="6858000"/>
          </a:xfrm>
          <a:prstGeom prst="rect">
            <a:avLst/>
          </a:prstGeom>
          <a:solidFill>
            <a:srgbClr val="E8E7E0"/>
          </a:solidFill>
          <a:ln/>
        </p:spPr>
      </p:sp>
      <p:sp>
        <p:nvSpPr>
          <p:cNvPr id="10" name="Shape 5"/>
          <p:cNvSpPr/>
          <p:nvPr/>
        </p:nvSpPr>
        <p:spPr>
          <a:xfrm>
            <a:off x="7569011" y="254000"/>
            <a:ext cx="1335054" cy="304800"/>
          </a:xfrm>
          <a:prstGeom prst="roundRect">
            <a:avLst>
              <a:gd name="adj" fmla="val 7500"/>
            </a:avLst>
          </a:prstGeom>
          <a:solidFill>
            <a:srgbClr val="CCFFFA"/>
          </a:solidFill>
          <a:ln/>
        </p:spPr>
      </p:sp>
      <p:sp>
        <p:nvSpPr>
          <p:cNvPr id="11" name="Text 6"/>
          <p:cNvSpPr/>
          <p:nvPr/>
        </p:nvSpPr>
        <p:spPr>
          <a:xfrm>
            <a:off x="7683308" y="320675"/>
            <a:ext cx="1716045" cy="190500"/>
          </a:xfrm>
          <a:prstGeom prst="rect">
            <a:avLst/>
          </a:prstGeom>
          <a:noFill/>
          <a:ln/>
        </p:spPr>
        <p:txBody>
          <a:bodyPr wrap="none" lIns="0" tIns="0" rIns="0" bIns="0" rtlCol="0" anchor="t"/>
          <a:lstStyle/>
          <a:p>
            <a:pPr algn="l" indent="0" marL="0">
              <a:lnSpc>
                <a:spcPct val="104000"/>
              </a:lnSpc>
              <a:buNone/>
            </a:pPr>
            <a:r>
              <a:rPr lang="en-US" sz="1200" spc="72" kern="100" dirty="0">
                <a:solidFill>
                  <a:srgbClr val="2A3134"/>
                </a:solidFill>
                <a:latin typeface="IBM Plex Mono Medium" pitchFamily="34" charset="0"/>
                <a:ea typeface="IBM Plex Mono Medium" pitchFamily="34" charset="-122"/>
                <a:cs typeface="IBM Plex Mono Medium" pitchFamily="34" charset="0"/>
              </a:rPr>
              <a:t>SAMPLE DATA</a:t>
            </a:r>
            <a:endParaRPr lang="en-US" sz="1200" dirty="0"/>
          </a:p>
        </p:txBody>
      </p:sp>
      <p:sp>
        <p:nvSpPr>
          <p:cNvPr id="12" name="Text 7"/>
          <p:cNvSpPr/>
          <p:nvPr/>
        </p:nvSpPr>
        <p:spPr>
          <a:xfrm>
            <a:off x="7569011" y="623411"/>
            <a:ext cx="4368691" cy="325735"/>
          </a:xfrm>
          <a:prstGeom prst="rect">
            <a:avLst/>
          </a:prstGeom>
          <a:noFill/>
          <a:ln/>
        </p:spPr>
        <p:txBody>
          <a:bodyPr wrap="none" lIns="0" tIns="0" rIns="0" bIns="0" rtlCol="0" anchor="t"/>
          <a:lstStyle/>
          <a:p>
            <a:pPr algn="l" indent="0" marL="0">
              <a:lnSpc>
                <a:spcPct val="113000"/>
              </a:lnSpc>
              <a:buNone/>
            </a:pPr>
            <a:r>
              <a:rPr lang="en-US" sz="1900" dirty="0">
                <a:solidFill>
                  <a:srgbClr val="2A3134"/>
                </a:solidFill>
                <a:latin typeface="Public Sans" pitchFamily="34" charset="0"/>
                <a:ea typeface="Public Sans" pitchFamily="34" charset="-122"/>
                <a:cs typeface="Public Sans" pitchFamily="34" charset="0"/>
              </a:rPr>
              <a:t>Pharmacy comparison</a:t>
            </a:r>
            <a:endParaRPr lang="en-US" sz="1900" dirty="0"/>
          </a:p>
        </p:txBody>
      </p:sp>
      <p:pic>
        <p:nvPicPr>
          <p:cNvPr id="13" name="Image 3" descr="preencoded.png">    </p:cNvPr>
          <p:cNvPicPr>
            <a:picLocks noChangeAspect="1"/>
          </p:cNvPicPr>
          <p:nvPr/>
        </p:nvPicPr>
        <p:blipFill>
          <a:blip r:embed="rId4"/>
          <a:stretch>
            <a:fillRect/>
          </a:stretch>
        </p:blipFill>
        <p:spPr>
          <a:xfrm>
            <a:off x="7569011" y="1052810"/>
            <a:ext cx="4368691" cy="1944886"/>
          </a:xfrm>
          <a:prstGeom prst="rect">
            <a:avLst/>
          </a:prstGeom>
        </p:spPr>
      </p:pic>
      <p:sp>
        <p:nvSpPr>
          <p:cNvPr id="14" name="Text 8"/>
          <p:cNvSpPr/>
          <p:nvPr/>
        </p:nvSpPr>
        <p:spPr>
          <a:xfrm>
            <a:off x="7569011" y="3138031"/>
            <a:ext cx="4622684" cy="181570"/>
          </a:xfrm>
          <a:prstGeom prst="rect">
            <a:avLst/>
          </a:prstGeom>
          <a:noFill/>
          <a:ln/>
        </p:spPr>
        <p:txBody>
          <a:bodyPr wrap="none" lIns="0" tIns="0" rIns="0" bIns="0" rtlCol="0" anchor="t"/>
          <a:lstStyle/>
          <a:p>
            <a:pPr algn="l" indent="0" marL="0">
              <a:lnSpc>
                <a:spcPct val="108000"/>
              </a:lnSpc>
              <a:buNone/>
            </a:pPr>
            <a:r>
              <a:rPr lang="en-US" sz="1100" spc="66" kern="100" dirty="0">
                <a:solidFill>
                  <a:srgbClr val="2A3134"/>
                </a:solidFill>
                <a:latin typeface="IBM Plex Mono" pitchFamily="34" charset="0"/>
                <a:ea typeface="IBM Plex Mono" pitchFamily="34" charset="-122"/>
                <a:cs typeface="IBM Plex Mono" pitchFamily="34" charset="0"/>
              </a:rPr>
              <a:t>FICTIONAL INFORMATION · PROTOTYPE SCREEN</a:t>
            </a:r>
            <a:endParaRPr lang="en-US" sz="1100" dirty="0"/>
          </a:p>
        </p:txBody>
      </p:sp>
      <p:sp>
        <p:nvSpPr>
          <p:cNvPr id="15" name="Shape 9"/>
          <p:cNvSpPr/>
          <p:nvPr/>
        </p:nvSpPr>
        <p:spPr>
          <a:xfrm>
            <a:off x="457189" y="3163094"/>
            <a:ext cx="6400640" cy="12700"/>
          </a:xfrm>
          <a:prstGeom prst="rect">
            <a:avLst/>
          </a:prstGeom>
          <a:solidFill>
            <a:srgbClr val="CFCEC5"/>
          </a:solidFill>
          <a:ln/>
        </p:spPr>
      </p:sp>
      <p:sp>
        <p:nvSpPr>
          <p:cNvPr id="16" name="Shape 10"/>
          <p:cNvSpPr/>
          <p:nvPr/>
        </p:nvSpPr>
        <p:spPr>
          <a:xfrm>
            <a:off x="457189" y="4893072"/>
            <a:ext cx="6400640" cy="12700"/>
          </a:xfrm>
          <a:prstGeom prst="rect">
            <a:avLst/>
          </a:prstGeom>
          <a:solidFill>
            <a:srgbClr val="CFCEC5"/>
          </a:solidFill>
          <a:ln/>
        </p:spPr>
      </p:sp>
      <p:sp>
        <p:nvSpPr>
          <p:cNvPr id="17" name="Text 11"/>
          <p:cNvSpPr/>
          <p:nvPr/>
        </p:nvSpPr>
        <p:spPr>
          <a:xfrm>
            <a:off x="11858428" y="6540500"/>
            <a:ext cx="333267" cy="177800"/>
          </a:xfrm>
          <a:prstGeom prst="rect">
            <a:avLst/>
          </a:prstGeom>
          <a:noFill/>
          <a:ln/>
        </p:spPr>
        <p:txBody>
          <a:bodyPr wrap="none" lIns="0" tIns="0" rIns="0" bIns="0" rtlCol="0" anchor="ctr"/>
          <a:lstStyle/>
          <a:p>
            <a:pPr algn="l" indent="0" marL="0">
              <a:lnSpc>
                <a:spcPct val="117000"/>
              </a:lnSpc>
              <a:buNone/>
            </a:pPr>
            <a:r>
              <a:rPr lang="en-US" sz="1000" dirty="0">
                <a:solidFill>
                  <a:srgbClr val="2A3134"/>
                </a:solidFill>
                <a:latin typeface="Public Sans" pitchFamily="34" charset="0"/>
                <a:ea typeface="Public Sans" pitchFamily="34" charset="-122"/>
                <a:cs typeface="Public Sans" pitchFamily="34" charset="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189" y="491173"/>
            <a:ext cx="6400640"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111618"/>
                </a:solidFill>
                <a:latin typeface="Sofia Sans Extra Condensed ExtraBold" pitchFamily="34" charset="0"/>
                <a:ea typeface="Sofia Sans Extra Condensed ExtraBold" pitchFamily="34" charset="-122"/>
                <a:cs typeface="Sofia Sans Extra Condensed ExtraBold" pitchFamily="34" charset="0"/>
              </a:rPr>
              <a:t>APPOINTMENTS AND ALERTS STAY IN ONE PLACE</a:t>
            </a:r>
            <a:endParaRPr lang="en-US" sz="4400" dirty="0"/>
          </a:p>
        </p:txBody>
      </p:sp>
      <p:sp>
        <p:nvSpPr>
          <p:cNvPr id="3" name="Text 1"/>
          <p:cNvSpPr/>
          <p:nvPr/>
        </p:nvSpPr>
        <p:spPr>
          <a:xfrm>
            <a:off x="457189" y="1668066"/>
            <a:ext cx="6857828" cy="266700"/>
          </a:xfrm>
          <a:prstGeom prst="rect">
            <a:avLst/>
          </a:prstGeom>
          <a:noFill/>
          <a:ln/>
        </p:spPr>
        <p:txBody>
          <a:bodyPr wrap="none" lIns="0" tIns="0" rIns="0" bIns="0" rtlCol="0" anchor="t"/>
          <a:lstStyle/>
          <a:p>
            <a:pPr algn="l" indent="0" marL="0">
              <a:lnSpc>
                <a:spcPct val="117000"/>
              </a:lnSpc>
              <a:buNone/>
            </a:pPr>
            <a:r>
              <a:rPr lang="en-US" sz="1500" dirty="0">
                <a:solidFill>
                  <a:srgbClr val="2A3134"/>
                </a:solidFill>
                <a:latin typeface="Public Sans" pitchFamily="34" charset="0"/>
                <a:ea typeface="Public Sans" pitchFamily="34" charset="-122"/>
                <a:cs typeface="Public Sans" pitchFamily="34" charset="0"/>
              </a:rPr>
              <a:t>Search, compare, request, and track the next step from one dashboard.</a:t>
            </a:r>
            <a:endParaRPr lang="en-US" sz="1500" dirty="0"/>
          </a:p>
        </p:txBody>
      </p:sp>
      <p:pic>
        <p:nvPicPr>
          <p:cNvPr id="4" name="Image 0" descr="preencoded.png">    </p:cNvPr>
          <p:cNvPicPr>
            <a:picLocks noChangeAspect="1"/>
          </p:cNvPicPr>
          <p:nvPr/>
        </p:nvPicPr>
        <p:blipFill>
          <a:blip r:embed="rId1"/>
          <a:stretch>
            <a:fillRect/>
          </a:stretch>
        </p:blipFill>
        <p:spPr>
          <a:xfrm>
            <a:off x="457189" y="2068135"/>
            <a:ext cx="380990" cy="381000"/>
          </a:xfrm>
          <a:prstGeom prst="rect">
            <a:avLst/>
          </a:prstGeom>
        </p:spPr>
      </p:pic>
      <p:sp>
        <p:nvSpPr>
          <p:cNvPr id="5" name="Text 2"/>
          <p:cNvSpPr/>
          <p:nvPr/>
        </p:nvSpPr>
        <p:spPr>
          <a:xfrm>
            <a:off x="990575" y="2070973"/>
            <a:ext cx="5867253" cy="548481"/>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Search hospitals, diagnostic laboratories, and medical services.</a:t>
            </a:r>
            <a:endParaRPr lang="en-US" sz="1600" dirty="0"/>
          </a:p>
        </p:txBody>
      </p:sp>
      <p:pic>
        <p:nvPicPr>
          <p:cNvPr id="6" name="Image 1" descr="preencoded.png">    </p:cNvPr>
          <p:cNvPicPr>
            <a:picLocks noChangeAspect="1"/>
          </p:cNvPicPr>
          <p:nvPr/>
        </p:nvPicPr>
        <p:blipFill>
          <a:blip r:embed="rId2"/>
          <a:stretch>
            <a:fillRect/>
          </a:stretch>
        </p:blipFill>
        <p:spPr>
          <a:xfrm>
            <a:off x="457189" y="3283764"/>
            <a:ext cx="380990" cy="381000"/>
          </a:xfrm>
          <a:prstGeom prst="rect">
            <a:avLst/>
          </a:prstGeom>
        </p:spPr>
      </p:pic>
      <p:sp>
        <p:nvSpPr>
          <p:cNvPr id="7" name="Text 3"/>
          <p:cNvSpPr/>
          <p:nvPr/>
        </p:nvSpPr>
        <p:spPr>
          <a:xfrm>
            <a:off x="990575" y="3286601"/>
            <a:ext cx="5867253" cy="548481"/>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Compare providers and available slots, then submit a booking request.</a:t>
            </a:r>
            <a:endParaRPr lang="en-US" sz="1600" dirty="0"/>
          </a:p>
        </p:txBody>
      </p:sp>
      <p:pic>
        <p:nvPicPr>
          <p:cNvPr id="8" name="Image 2" descr="preencoded.png">    </p:cNvPr>
          <p:cNvPicPr>
            <a:picLocks noChangeAspect="1"/>
          </p:cNvPicPr>
          <p:nvPr/>
        </p:nvPicPr>
        <p:blipFill>
          <a:blip r:embed="rId3"/>
          <a:stretch>
            <a:fillRect/>
          </a:stretch>
        </p:blipFill>
        <p:spPr>
          <a:xfrm>
            <a:off x="457189" y="4499392"/>
            <a:ext cx="380990" cy="381000"/>
          </a:xfrm>
          <a:prstGeom prst="rect">
            <a:avLst/>
          </a:prstGeom>
        </p:spPr>
      </p:pic>
      <p:sp>
        <p:nvSpPr>
          <p:cNvPr id="9" name="Text 4"/>
          <p:cNvSpPr/>
          <p:nvPr/>
        </p:nvSpPr>
        <p:spPr>
          <a:xfrm>
            <a:off x="990575" y="4502229"/>
            <a:ext cx="5867253" cy="548481"/>
          </a:xfrm>
          <a:prstGeom prst="rect">
            <a:avLst/>
          </a:prstGeom>
          <a:noFill/>
          <a:ln/>
        </p:spPr>
        <p:txBody>
          <a:bodyPr wrap="square" lIns="0" tIns="0" rIns="0" bIns="0" rtlCol="0" anchor="t">
            <a:normAutofit/>
          </a:bodyPr>
          <a:lstStyle/>
          <a:p>
            <a:pPr algn="l" indent="0" marL="0">
              <a:lnSpc>
                <a:spcPct val="113000"/>
              </a:lnSpc>
              <a:buNone/>
            </a:pPr>
            <a:r>
              <a:rPr lang="en-US" sz="1600" dirty="0">
                <a:solidFill>
                  <a:srgbClr val="111618"/>
                </a:solidFill>
                <a:latin typeface="Public Sans" pitchFamily="34" charset="0"/>
                <a:ea typeface="Public Sans" pitchFamily="34" charset="-122"/>
                <a:cs typeface="Public Sans" pitchFamily="34" charset="0"/>
              </a:rPr>
              <a:t>Track confirmations, cancellations, reports, blood requests, pledge confirmations, and price changes from one dashboard.</a:t>
            </a:r>
            <a:endParaRPr lang="en-US" sz="1600" dirty="0"/>
          </a:p>
        </p:txBody>
      </p:sp>
      <p:sp>
        <p:nvSpPr>
          <p:cNvPr id="10" name="Shape 5"/>
          <p:cNvSpPr/>
          <p:nvPr/>
        </p:nvSpPr>
        <p:spPr>
          <a:xfrm>
            <a:off x="457189" y="5391150"/>
            <a:ext cx="6400640" cy="1009650"/>
          </a:xfrm>
          <a:prstGeom prst="roundRect">
            <a:avLst>
              <a:gd name="adj" fmla="val 2830"/>
            </a:avLst>
          </a:prstGeom>
          <a:solidFill>
            <a:srgbClr val="CCFFFA"/>
          </a:solidFill>
          <a:ln/>
        </p:spPr>
      </p:sp>
      <p:sp>
        <p:nvSpPr>
          <p:cNvPr id="11" name="Text 6"/>
          <p:cNvSpPr/>
          <p:nvPr/>
        </p:nvSpPr>
        <p:spPr>
          <a:xfrm>
            <a:off x="647684" y="5629275"/>
            <a:ext cx="6019649"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000000"/>
                </a:solidFill>
                <a:latin typeface="Public Sans" pitchFamily="34" charset="0"/>
                <a:ea typeface="Public Sans" pitchFamily="34" charset="-122"/>
                <a:cs typeface="Public Sans" pitchFamily="34" charset="0"/>
              </a:rPr>
              <a:t>Real-time booking requires provider partnerships or approved integrations.</a:t>
            </a:r>
            <a:endParaRPr lang="en-US" sz="1500" dirty="0"/>
          </a:p>
        </p:txBody>
      </p:sp>
      <p:sp>
        <p:nvSpPr>
          <p:cNvPr id="12" name="Shape 7"/>
          <p:cNvSpPr/>
          <p:nvPr/>
        </p:nvSpPr>
        <p:spPr>
          <a:xfrm>
            <a:off x="7315017" y="0"/>
            <a:ext cx="4876678" cy="6858000"/>
          </a:xfrm>
          <a:prstGeom prst="rect">
            <a:avLst/>
          </a:prstGeom>
          <a:solidFill>
            <a:srgbClr val="E8E7E0"/>
          </a:solidFill>
          <a:ln/>
        </p:spPr>
      </p:sp>
      <p:sp>
        <p:nvSpPr>
          <p:cNvPr id="13" name="Shape 8"/>
          <p:cNvSpPr/>
          <p:nvPr/>
        </p:nvSpPr>
        <p:spPr>
          <a:xfrm>
            <a:off x="7569011" y="254000"/>
            <a:ext cx="2139698" cy="304800"/>
          </a:xfrm>
          <a:prstGeom prst="roundRect">
            <a:avLst>
              <a:gd name="adj" fmla="val 7500"/>
            </a:avLst>
          </a:prstGeom>
          <a:solidFill>
            <a:srgbClr val="CCFFFA"/>
          </a:solidFill>
          <a:ln/>
        </p:spPr>
      </p:sp>
      <p:sp>
        <p:nvSpPr>
          <p:cNvPr id="14" name="Text 9"/>
          <p:cNvSpPr/>
          <p:nvPr/>
        </p:nvSpPr>
        <p:spPr>
          <a:xfrm>
            <a:off x="7683308" y="320675"/>
            <a:ext cx="2520689" cy="190500"/>
          </a:xfrm>
          <a:prstGeom prst="rect">
            <a:avLst/>
          </a:prstGeom>
          <a:noFill/>
          <a:ln/>
        </p:spPr>
        <p:txBody>
          <a:bodyPr wrap="none" lIns="0" tIns="0" rIns="0" bIns="0" rtlCol="0" anchor="t"/>
          <a:lstStyle/>
          <a:p>
            <a:pPr algn="l" indent="0" marL="0">
              <a:lnSpc>
                <a:spcPct val="104000"/>
              </a:lnSpc>
              <a:buNone/>
            </a:pPr>
            <a:r>
              <a:rPr lang="en-US" sz="1200" spc="72" kern="100" dirty="0">
                <a:solidFill>
                  <a:srgbClr val="2A3134"/>
                </a:solidFill>
                <a:latin typeface="IBM Plex Mono Medium" pitchFamily="34" charset="0"/>
                <a:ea typeface="IBM Plex Mono Medium" pitchFamily="34" charset="-122"/>
                <a:cs typeface="IBM Plex Mono Medium" pitchFamily="34" charset="0"/>
              </a:rPr>
              <a:t>PROTOTYPE DASHBOARD</a:t>
            </a:r>
            <a:endParaRPr lang="en-US" sz="1200" dirty="0"/>
          </a:p>
        </p:txBody>
      </p:sp>
      <p:pic>
        <p:nvPicPr>
          <p:cNvPr id="15" name="Image 3" descr="preencoded.png">    </p:cNvPr>
          <p:cNvPicPr>
            <a:picLocks noChangeAspect="1"/>
          </p:cNvPicPr>
          <p:nvPr/>
        </p:nvPicPr>
        <p:blipFill>
          <a:blip r:embed="rId4"/>
          <a:stretch>
            <a:fillRect/>
          </a:stretch>
        </p:blipFill>
        <p:spPr>
          <a:xfrm>
            <a:off x="7569011" y="692150"/>
            <a:ext cx="4368691" cy="3727648"/>
          </a:xfrm>
          <a:prstGeom prst="rect">
            <a:avLst/>
          </a:prstGeom>
        </p:spPr>
      </p:pic>
      <p:sp>
        <p:nvSpPr>
          <p:cNvPr id="16" name="Text 10"/>
          <p:cNvSpPr/>
          <p:nvPr/>
        </p:nvSpPr>
        <p:spPr>
          <a:xfrm>
            <a:off x="7569011" y="4560133"/>
            <a:ext cx="4622684" cy="181570"/>
          </a:xfrm>
          <a:prstGeom prst="rect">
            <a:avLst/>
          </a:prstGeom>
          <a:noFill/>
          <a:ln/>
        </p:spPr>
        <p:txBody>
          <a:bodyPr wrap="none" lIns="0" tIns="0" rIns="0" bIns="0" rtlCol="0" anchor="t"/>
          <a:lstStyle/>
          <a:p>
            <a:pPr algn="l" indent="0" marL="0">
              <a:lnSpc>
                <a:spcPct val="108000"/>
              </a:lnSpc>
              <a:buNone/>
            </a:pPr>
            <a:r>
              <a:rPr lang="en-US" sz="1100" spc="66" kern="100" dirty="0">
                <a:solidFill>
                  <a:srgbClr val="2A3134"/>
                </a:solidFill>
                <a:latin typeface="IBM Plex Mono" pitchFamily="34" charset="0"/>
                <a:ea typeface="IBM Plex Mono" pitchFamily="34" charset="-122"/>
                <a:cs typeface="IBM Plex Mono" pitchFamily="34" charset="0"/>
              </a:rPr>
              <a:t>FICTIONAL INFORMATION · PROTOTYPE SCREEN</a:t>
            </a:r>
            <a:endParaRPr lang="en-US" sz="1100" dirty="0"/>
          </a:p>
        </p:txBody>
      </p:sp>
      <p:sp>
        <p:nvSpPr>
          <p:cNvPr id="17" name="Shape 11"/>
          <p:cNvSpPr/>
          <p:nvPr/>
        </p:nvSpPr>
        <p:spPr>
          <a:xfrm>
            <a:off x="457189" y="3048794"/>
            <a:ext cx="6400640" cy="12700"/>
          </a:xfrm>
          <a:prstGeom prst="rect">
            <a:avLst/>
          </a:prstGeom>
          <a:solidFill>
            <a:srgbClr val="CFCEC5"/>
          </a:solidFill>
          <a:ln/>
        </p:spPr>
      </p:sp>
      <p:sp>
        <p:nvSpPr>
          <p:cNvPr id="18" name="Shape 12"/>
          <p:cNvSpPr/>
          <p:nvPr/>
        </p:nvSpPr>
        <p:spPr>
          <a:xfrm>
            <a:off x="457189" y="4264422"/>
            <a:ext cx="6400640" cy="12700"/>
          </a:xfrm>
          <a:prstGeom prst="rect">
            <a:avLst/>
          </a:prstGeom>
          <a:solidFill>
            <a:srgbClr val="CFCEC5"/>
          </a:solidFill>
          <a:ln/>
        </p:spPr>
      </p:sp>
      <p:sp>
        <p:nvSpPr>
          <p:cNvPr id="19" name="Text 13"/>
          <p:cNvSpPr/>
          <p:nvPr/>
        </p:nvSpPr>
        <p:spPr>
          <a:xfrm>
            <a:off x="11850986" y="6540500"/>
            <a:ext cx="340709" cy="177800"/>
          </a:xfrm>
          <a:prstGeom prst="rect">
            <a:avLst/>
          </a:prstGeom>
          <a:noFill/>
          <a:ln/>
        </p:spPr>
        <p:txBody>
          <a:bodyPr wrap="none" lIns="0" tIns="0" rIns="0" bIns="0" rtlCol="0" anchor="ctr"/>
          <a:lstStyle/>
          <a:p>
            <a:pPr algn="l" indent="0" marL="0">
              <a:lnSpc>
                <a:spcPct val="117000"/>
              </a:lnSpc>
              <a:buNone/>
            </a:pPr>
            <a:r>
              <a:rPr lang="en-US" sz="1000" dirty="0">
                <a:solidFill>
                  <a:srgbClr val="2A3134"/>
                </a:solidFill>
                <a:latin typeface="Public Sans" pitchFamily="34" charset="0"/>
                <a:ea typeface="Public Sans" pitchFamily="34" charset="-122"/>
                <a:cs typeface="Public Sans" pitchFamily="34" charset="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491173"/>
            <a:ext cx="11277318" cy="530820"/>
          </a:xfrm>
          <a:prstGeom prst="rect">
            <a:avLst/>
          </a:prstGeom>
          <a:noFill/>
          <a:ln/>
        </p:spPr>
        <p:txBody>
          <a:bodyPr wrap="none" lIns="0" tIns="0" rIns="0" bIns="0" rtlCol="0" anchor="t"/>
          <a:lstStyle/>
          <a:p>
            <a:pPr algn="l" indent="0" marL="0">
              <a:lnSpc>
                <a:spcPct val="79000"/>
              </a:lnSpc>
              <a:buNone/>
            </a:pPr>
            <a:r>
              <a:rPr lang="en-US" sz="4400" dirty="0">
                <a:solidFill>
                  <a:srgbClr val="111618"/>
                </a:solidFill>
                <a:latin typeface="Sofia Sans Extra Condensed ExtraBold" pitchFamily="34" charset="0"/>
                <a:ea typeface="Sofia Sans Extra Condensed ExtraBold" pitchFamily="34" charset="-122"/>
                <a:cs typeface="Sofia Sans Extra Condensed ExtraBold" pitchFamily="34" charset="0"/>
              </a:rPr>
              <a:t>BUILT AS A CONNECTED, PRIVACY-AWARE PLATFORM</a:t>
            </a:r>
            <a:endParaRPr lang="en-US" sz="4400" dirty="0"/>
          </a:p>
        </p:txBody>
      </p:sp>
      <p:sp>
        <p:nvSpPr>
          <p:cNvPr id="3" name="Text 1"/>
          <p:cNvSpPr/>
          <p:nvPr/>
        </p:nvSpPr>
        <p:spPr>
          <a:xfrm>
            <a:off x="457189" y="1137245"/>
            <a:ext cx="11734506" cy="266700"/>
          </a:xfrm>
          <a:prstGeom prst="rect">
            <a:avLst/>
          </a:prstGeom>
          <a:noFill/>
          <a:ln/>
        </p:spPr>
        <p:txBody>
          <a:bodyPr wrap="none" lIns="0" tIns="0" rIns="0" bIns="0" rtlCol="0" anchor="t"/>
          <a:lstStyle/>
          <a:p>
            <a:pPr algn="l" indent="0" marL="0">
              <a:lnSpc>
                <a:spcPct val="117000"/>
              </a:lnSpc>
              <a:buNone/>
            </a:pPr>
            <a:r>
              <a:rPr lang="en-US" sz="1500" dirty="0">
                <a:solidFill>
                  <a:srgbClr val="2A3134"/>
                </a:solidFill>
                <a:latin typeface="Public Sans" pitchFamily="34" charset="0"/>
                <a:ea typeface="Public Sans" pitchFamily="34" charset="-122"/>
                <a:cs typeface="Public Sans" pitchFamily="34" charset="0"/>
              </a:rPr>
              <a:t>Maps, notifications, hosting, and future provider integrations complete the service layer.</a:t>
            </a:r>
            <a:endParaRPr lang="en-US" sz="1500" dirty="0"/>
          </a:p>
        </p:txBody>
      </p:sp>
      <p:pic>
        <p:nvPicPr>
          <p:cNvPr id="4" name="Image 0" descr="preencoded.png">    </p:cNvPr>
          <p:cNvPicPr>
            <a:picLocks noChangeAspect="1"/>
          </p:cNvPicPr>
          <p:nvPr/>
        </p:nvPicPr>
        <p:blipFill>
          <a:blip r:embed="rId1"/>
          <a:stretch>
            <a:fillRect/>
          </a:stretch>
        </p:blipFill>
        <p:spPr>
          <a:xfrm>
            <a:off x="2414626" y="1537295"/>
            <a:ext cx="7362442" cy="3174901"/>
          </a:xfrm>
          <a:prstGeom prst="rect">
            <a:avLst/>
          </a:prstGeom>
        </p:spPr>
      </p:pic>
      <p:sp>
        <p:nvSpPr>
          <p:cNvPr id="5" name="Text 2"/>
          <p:cNvSpPr/>
          <p:nvPr/>
        </p:nvSpPr>
        <p:spPr>
          <a:xfrm>
            <a:off x="2911897" y="1909866"/>
            <a:ext cx="4048787" cy="211977"/>
          </a:xfrm>
          <a:prstGeom prst="rect">
            <a:avLst/>
          </a:prstGeom>
          <a:noFill/>
          <a:ln/>
        </p:spPr>
        <p:txBody>
          <a:bodyPr wrap="none" lIns="0" tIns="0" rIns="0" bIns="0" rtlCol="0" anchor="t"/>
          <a:lstStyle/>
          <a:p>
            <a:pPr algn="l" indent="0" marL="0">
              <a:lnSpc>
                <a:spcPct val="113000"/>
              </a:lnSpc>
              <a:buNone/>
            </a:pPr>
            <a:r>
              <a:rPr lang="en-US" sz="1250" dirty="0">
                <a:solidFill>
                  <a:srgbClr val="FFFFFF"/>
                </a:solidFill>
                <a:latin typeface="Sofia Sans Extra Condensed ExtraBold" pitchFamily="34" charset="0"/>
                <a:ea typeface="Sofia Sans Extra Condensed ExtraBold" pitchFamily="34" charset="-122"/>
                <a:cs typeface="Sofia Sans Extra Condensed ExtraBold" pitchFamily="34" charset="0"/>
              </a:rPr>
              <a:t>USER INTERFACE</a:t>
            </a:r>
            <a:endParaRPr lang="en-US" sz="1250" dirty="0"/>
          </a:p>
        </p:txBody>
      </p:sp>
      <p:sp>
        <p:nvSpPr>
          <p:cNvPr id="6" name="Text 3"/>
          <p:cNvSpPr/>
          <p:nvPr/>
        </p:nvSpPr>
        <p:spPr>
          <a:xfrm>
            <a:off x="2911897" y="2646111"/>
            <a:ext cx="4048787" cy="211977"/>
          </a:xfrm>
          <a:prstGeom prst="rect">
            <a:avLst/>
          </a:prstGeom>
          <a:noFill/>
          <a:ln/>
        </p:spPr>
        <p:txBody>
          <a:bodyPr wrap="none" lIns="0" tIns="0" rIns="0" bIns="0" rtlCol="0" anchor="t"/>
          <a:lstStyle/>
          <a:p>
            <a:pPr algn="l" indent="0" marL="0">
              <a:lnSpc>
                <a:spcPct val="113000"/>
              </a:lnSpc>
              <a:buNone/>
            </a:pPr>
            <a:r>
              <a:rPr lang="en-US" sz="1250" dirty="0">
                <a:solidFill>
                  <a:srgbClr val="FFFFFF"/>
                </a:solidFill>
                <a:latin typeface="Sofia Sans Extra Condensed ExtraBold" pitchFamily="34" charset="0"/>
                <a:ea typeface="Sofia Sans Extra Condensed ExtraBold" pitchFamily="34" charset="-122"/>
                <a:cs typeface="Sofia Sans Extra Condensed ExtraBold" pitchFamily="34" charset="0"/>
              </a:rPr>
              <a:t>BACKEND API</a:t>
            </a:r>
            <a:endParaRPr lang="en-US" sz="1250" dirty="0"/>
          </a:p>
        </p:txBody>
      </p:sp>
      <p:sp>
        <p:nvSpPr>
          <p:cNvPr id="7" name="Text 4"/>
          <p:cNvSpPr/>
          <p:nvPr/>
        </p:nvSpPr>
        <p:spPr>
          <a:xfrm>
            <a:off x="2911897" y="3374994"/>
            <a:ext cx="4048787" cy="211977"/>
          </a:xfrm>
          <a:prstGeom prst="rect">
            <a:avLst/>
          </a:prstGeom>
          <a:noFill/>
          <a:ln/>
        </p:spPr>
        <p:txBody>
          <a:bodyPr wrap="none" lIns="0" tIns="0" rIns="0" bIns="0" rtlCol="0" anchor="t"/>
          <a:lstStyle/>
          <a:p>
            <a:pPr algn="l" indent="0" marL="0">
              <a:lnSpc>
                <a:spcPct val="113000"/>
              </a:lnSpc>
              <a:buNone/>
            </a:pPr>
            <a:r>
              <a:rPr lang="en-US" sz="1250" dirty="0">
                <a:solidFill>
                  <a:srgbClr val="FFFFFF"/>
                </a:solidFill>
                <a:latin typeface="Sofia Sans Extra Condensed ExtraBold" pitchFamily="34" charset="0"/>
                <a:ea typeface="Sofia Sans Extra Condensed ExtraBold" pitchFamily="34" charset="-122"/>
                <a:cs typeface="Sofia Sans Extra Condensed ExtraBold" pitchFamily="34" charset="0"/>
              </a:rPr>
              <a:t>DATA &amp; AUTH</a:t>
            </a:r>
            <a:endParaRPr lang="en-US" sz="1250" dirty="0"/>
          </a:p>
        </p:txBody>
      </p:sp>
      <p:sp>
        <p:nvSpPr>
          <p:cNvPr id="8" name="Text 5"/>
          <p:cNvSpPr/>
          <p:nvPr/>
        </p:nvSpPr>
        <p:spPr>
          <a:xfrm>
            <a:off x="2911897" y="4103877"/>
            <a:ext cx="4048787" cy="211977"/>
          </a:xfrm>
          <a:prstGeom prst="rect">
            <a:avLst/>
          </a:prstGeom>
          <a:noFill/>
          <a:ln/>
        </p:spPr>
        <p:txBody>
          <a:bodyPr wrap="none" lIns="0" tIns="0" rIns="0" bIns="0" rtlCol="0" anchor="t"/>
          <a:lstStyle/>
          <a:p>
            <a:pPr algn="l" indent="0" marL="0">
              <a:lnSpc>
                <a:spcPct val="113000"/>
              </a:lnSpc>
              <a:buNone/>
            </a:pPr>
            <a:r>
              <a:rPr lang="en-US" sz="1250" dirty="0">
                <a:solidFill>
                  <a:srgbClr val="FFFFFF"/>
                </a:solidFill>
                <a:latin typeface="Sofia Sans Extra Condensed ExtraBold" pitchFamily="34" charset="0"/>
                <a:ea typeface="Sofia Sans Extra Condensed ExtraBold" pitchFamily="34" charset="-122"/>
                <a:cs typeface="Sofia Sans Extra Condensed ExtraBold" pitchFamily="34" charset="0"/>
              </a:rPr>
              <a:t>INTEGRATIONS</a:t>
            </a:r>
            <a:endParaRPr lang="en-US" sz="1250" dirty="0"/>
          </a:p>
        </p:txBody>
      </p:sp>
      <p:sp>
        <p:nvSpPr>
          <p:cNvPr id="9" name="Text 6"/>
          <p:cNvSpPr/>
          <p:nvPr/>
        </p:nvSpPr>
        <p:spPr>
          <a:xfrm>
            <a:off x="457189" y="4852531"/>
            <a:ext cx="3657509" cy="181570"/>
          </a:xfrm>
          <a:prstGeom prst="rect">
            <a:avLst/>
          </a:prstGeom>
          <a:noFill/>
          <a:ln/>
        </p:spPr>
        <p:txBody>
          <a:bodyPr wrap="none" lIns="0" tIns="0" rIns="0" bIns="0" rtlCol="0" anchor="t"/>
          <a:lstStyle/>
          <a:p>
            <a:pPr algn="l" indent="0" marL="0">
              <a:lnSpc>
                <a:spcPct val="108000"/>
              </a:lnSpc>
              <a:buNone/>
            </a:pPr>
            <a:r>
              <a:rPr lang="en-US" sz="1100" spc="66" kern="100" dirty="0">
                <a:solidFill>
                  <a:srgbClr val="566064"/>
                </a:solidFill>
                <a:latin typeface="IBM Plex Mono" pitchFamily="34" charset="0"/>
                <a:ea typeface="IBM Plex Mono" pitchFamily="34" charset="-122"/>
                <a:cs typeface="IBM Plex Mono" pitchFamily="34" charset="0"/>
              </a:rPr>
              <a:t>USER INTERFACE</a:t>
            </a:r>
            <a:endParaRPr lang="en-US" sz="1100" dirty="0"/>
          </a:p>
        </p:txBody>
      </p:sp>
      <p:sp>
        <p:nvSpPr>
          <p:cNvPr id="10" name="Text 7"/>
          <p:cNvSpPr/>
          <p:nvPr/>
        </p:nvSpPr>
        <p:spPr>
          <a:xfrm>
            <a:off x="457189" y="5112841"/>
            <a:ext cx="3657509" cy="266700"/>
          </a:xfrm>
          <a:prstGeom prst="rect">
            <a:avLst/>
          </a:prstGeom>
          <a:noFill/>
          <a:ln/>
        </p:spPr>
        <p:txBody>
          <a:bodyPr wrap="none" lIns="0" tIns="0" rIns="0" bIns="0" rtlCol="0" anchor="t"/>
          <a:lstStyle/>
          <a:p>
            <a:pPr algn="l" indent="0" marL="0">
              <a:lnSpc>
                <a:spcPct val="117000"/>
              </a:lnSpc>
              <a:buNone/>
            </a:pPr>
            <a:r>
              <a:rPr lang="en-US" sz="1500" dirty="0">
                <a:solidFill>
                  <a:srgbClr val="2A3134"/>
                </a:solidFill>
                <a:latin typeface="Public Sans" pitchFamily="34" charset="0"/>
                <a:ea typeface="Public Sans" pitchFamily="34" charset="-122"/>
                <a:cs typeface="Public Sans" pitchFamily="34" charset="0"/>
              </a:rPr>
              <a:t>React · Tailwind CSS</a:t>
            </a:r>
            <a:endParaRPr lang="en-US" sz="1500" dirty="0"/>
          </a:p>
        </p:txBody>
      </p:sp>
      <p:sp>
        <p:nvSpPr>
          <p:cNvPr id="11" name="Text 8"/>
          <p:cNvSpPr/>
          <p:nvPr/>
        </p:nvSpPr>
        <p:spPr>
          <a:xfrm>
            <a:off x="4267093" y="4852531"/>
            <a:ext cx="3657509" cy="181570"/>
          </a:xfrm>
          <a:prstGeom prst="rect">
            <a:avLst/>
          </a:prstGeom>
          <a:noFill/>
          <a:ln/>
        </p:spPr>
        <p:txBody>
          <a:bodyPr wrap="none" lIns="0" tIns="0" rIns="0" bIns="0" rtlCol="0" anchor="t"/>
          <a:lstStyle/>
          <a:p>
            <a:pPr algn="l" indent="0" marL="0">
              <a:lnSpc>
                <a:spcPct val="108000"/>
              </a:lnSpc>
              <a:buNone/>
            </a:pPr>
            <a:r>
              <a:rPr lang="en-US" sz="1100" spc="66" kern="100" dirty="0">
                <a:solidFill>
                  <a:srgbClr val="566064"/>
                </a:solidFill>
                <a:latin typeface="IBM Plex Mono" pitchFamily="34" charset="0"/>
                <a:ea typeface="IBM Plex Mono" pitchFamily="34" charset="-122"/>
                <a:cs typeface="IBM Plex Mono" pitchFamily="34" charset="0"/>
              </a:rPr>
              <a:t>BACKEND API</a:t>
            </a:r>
            <a:endParaRPr lang="en-US" sz="1100" dirty="0"/>
          </a:p>
        </p:txBody>
      </p:sp>
      <p:sp>
        <p:nvSpPr>
          <p:cNvPr id="12" name="Text 9"/>
          <p:cNvSpPr/>
          <p:nvPr/>
        </p:nvSpPr>
        <p:spPr>
          <a:xfrm>
            <a:off x="4267093" y="5112841"/>
            <a:ext cx="3657509" cy="266700"/>
          </a:xfrm>
          <a:prstGeom prst="rect">
            <a:avLst/>
          </a:prstGeom>
          <a:noFill/>
          <a:ln/>
        </p:spPr>
        <p:txBody>
          <a:bodyPr wrap="none" lIns="0" tIns="0" rIns="0" bIns="0" rtlCol="0" anchor="t"/>
          <a:lstStyle/>
          <a:p>
            <a:pPr algn="l" indent="0" marL="0">
              <a:lnSpc>
                <a:spcPct val="117000"/>
              </a:lnSpc>
              <a:buNone/>
            </a:pPr>
            <a:r>
              <a:rPr lang="en-US" sz="1500" dirty="0">
                <a:solidFill>
                  <a:srgbClr val="2A3134"/>
                </a:solidFill>
                <a:latin typeface="Public Sans" pitchFamily="34" charset="0"/>
                <a:ea typeface="Public Sans" pitchFamily="34" charset="-122"/>
                <a:cs typeface="Public Sans" pitchFamily="34" charset="0"/>
              </a:rPr>
              <a:t>Node.js · Express</a:t>
            </a:r>
            <a:endParaRPr lang="en-US" sz="1500" dirty="0"/>
          </a:p>
        </p:txBody>
      </p:sp>
      <p:sp>
        <p:nvSpPr>
          <p:cNvPr id="13" name="Text 10"/>
          <p:cNvSpPr/>
          <p:nvPr/>
        </p:nvSpPr>
        <p:spPr>
          <a:xfrm>
            <a:off x="8076998" y="4852531"/>
            <a:ext cx="3657509" cy="181570"/>
          </a:xfrm>
          <a:prstGeom prst="rect">
            <a:avLst/>
          </a:prstGeom>
          <a:noFill/>
          <a:ln/>
        </p:spPr>
        <p:txBody>
          <a:bodyPr wrap="none" lIns="0" tIns="0" rIns="0" bIns="0" rtlCol="0" anchor="t"/>
          <a:lstStyle/>
          <a:p>
            <a:pPr algn="l" indent="0" marL="0">
              <a:lnSpc>
                <a:spcPct val="108000"/>
              </a:lnSpc>
              <a:buNone/>
            </a:pPr>
            <a:r>
              <a:rPr lang="en-US" sz="1100" spc="66" kern="100" dirty="0">
                <a:solidFill>
                  <a:srgbClr val="566064"/>
                </a:solidFill>
                <a:latin typeface="IBM Plex Mono" pitchFamily="34" charset="0"/>
                <a:ea typeface="IBM Plex Mono" pitchFamily="34" charset="-122"/>
                <a:cs typeface="IBM Plex Mono" pitchFamily="34" charset="0"/>
              </a:rPr>
              <a:t>DATA + AUTHENTICATION</a:t>
            </a:r>
            <a:endParaRPr lang="en-US" sz="1100" dirty="0"/>
          </a:p>
        </p:txBody>
      </p:sp>
      <p:sp>
        <p:nvSpPr>
          <p:cNvPr id="14" name="Text 11"/>
          <p:cNvSpPr/>
          <p:nvPr/>
        </p:nvSpPr>
        <p:spPr>
          <a:xfrm>
            <a:off x="8076998" y="5112841"/>
            <a:ext cx="3657509" cy="266700"/>
          </a:xfrm>
          <a:prstGeom prst="rect">
            <a:avLst/>
          </a:prstGeom>
          <a:noFill/>
          <a:ln/>
        </p:spPr>
        <p:txBody>
          <a:bodyPr wrap="none" lIns="0" tIns="0" rIns="0" bIns="0" rtlCol="0" anchor="t"/>
          <a:lstStyle/>
          <a:p>
            <a:pPr algn="l" indent="0" marL="0">
              <a:lnSpc>
                <a:spcPct val="117000"/>
              </a:lnSpc>
              <a:buNone/>
            </a:pPr>
            <a:r>
              <a:rPr lang="en-US" sz="1500" dirty="0">
                <a:solidFill>
                  <a:srgbClr val="2A3134"/>
                </a:solidFill>
                <a:latin typeface="Public Sans" pitchFamily="34" charset="0"/>
                <a:ea typeface="Public Sans" pitchFamily="34" charset="-122"/>
                <a:cs typeface="Public Sans" pitchFamily="34" charset="0"/>
              </a:rPr>
              <a:t>PostgreSQL · Supabase · Supabase Auth</a:t>
            </a:r>
            <a:endParaRPr lang="en-US" sz="1500" dirty="0"/>
          </a:p>
        </p:txBody>
      </p:sp>
      <p:sp>
        <p:nvSpPr>
          <p:cNvPr id="15" name="Shape 12"/>
          <p:cNvSpPr/>
          <p:nvPr/>
        </p:nvSpPr>
        <p:spPr>
          <a:xfrm>
            <a:off x="457189" y="5512891"/>
            <a:ext cx="11277318" cy="742950"/>
          </a:xfrm>
          <a:prstGeom prst="roundRect">
            <a:avLst>
              <a:gd name="adj" fmla="val 3846"/>
            </a:avLst>
          </a:prstGeom>
          <a:solidFill>
            <a:srgbClr val="FCF2B5"/>
          </a:solidFill>
          <a:ln/>
        </p:spPr>
      </p:sp>
      <p:sp>
        <p:nvSpPr>
          <p:cNvPr id="16" name="Text 13"/>
          <p:cNvSpPr/>
          <p:nvPr/>
        </p:nvSpPr>
        <p:spPr>
          <a:xfrm>
            <a:off x="647684" y="5751016"/>
            <a:ext cx="11505912" cy="266700"/>
          </a:xfrm>
          <a:prstGeom prst="rect">
            <a:avLst/>
          </a:prstGeom>
          <a:noFill/>
          <a:ln/>
        </p:spPr>
        <p:txBody>
          <a:bodyPr wrap="none" lIns="0" tIns="0" rIns="0" bIns="0" rtlCol="0" anchor="t"/>
          <a:lstStyle/>
          <a:p>
            <a:pPr algn="l" indent="0" marL="0">
              <a:lnSpc>
                <a:spcPct val="117000"/>
              </a:lnSpc>
              <a:buNone/>
            </a:pPr>
            <a:r>
              <a:rPr lang="en-US" sz="1500" dirty="0">
                <a:solidFill>
                  <a:srgbClr val="000000"/>
                </a:solidFill>
                <a:latin typeface="Public Sans" pitchFamily="34" charset="0"/>
                <a:ea typeface="Public Sans" pitchFamily="34" charset="-122"/>
                <a:cs typeface="Public Sans" pitchFamily="34" charset="0"/>
              </a:rPr>
              <a:t>Privacy, consent, data protection, verification, and auditability are essential requirements.</a:t>
            </a:r>
            <a:endParaRPr lang="en-US" sz="1500" dirty="0"/>
          </a:p>
        </p:txBody>
      </p:sp>
      <p:sp>
        <p:nvSpPr>
          <p:cNvPr id="17" name="Text 14"/>
          <p:cNvSpPr/>
          <p:nvPr/>
        </p:nvSpPr>
        <p:spPr>
          <a:xfrm>
            <a:off x="11853864" y="6540500"/>
            <a:ext cx="337831" cy="177800"/>
          </a:xfrm>
          <a:prstGeom prst="rect">
            <a:avLst/>
          </a:prstGeom>
          <a:noFill/>
          <a:ln/>
        </p:spPr>
        <p:txBody>
          <a:bodyPr wrap="none" lIns="0" tIns="0" rIns="0" bIns="0" rtlCol="0" anchor="ctr"/>
          <a:lstStyle/>
          <a:p>
            <a:pPr algn="l" indent="0" marL="0">
              <a:lnSpc>
                <a:spcPct val="117000"/>
              </a:lnSpc>
              <a:buNone/>
            </a:pPr>
            <a:r>
              <a:rPr lang="en-US" sz="1000" dirty="0">
                <a:solidFill>
                  <a:srgbClr val="2A3134"/>
                </a:solidFill>
                <a:latin typeface="Public Sans" pitchFamily="34" charset="0"/>
                <a:ea typeface="Public Sans" pitchFamily="34" charset="-122"/>
                <a:cs typeface="Public Sans" pitchFamily="34" charset="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189" y="504825"/>
            <a:ext cx="2819329" cy="57150"/>
          </a:xfrm>
          <a:prstGeom prst="roundRect">
            <a:avLst>
              <a:gd name="adj" fmla="val 49999"/>
            </a:avLst>
          </a:prstGeom>
          <a:solidFill>
            <a:srgbClr val="00756A"/>
          </a:solidFill>
          <a:ln/>
        </p:spPr>
      </p:sp>
      <p:sp>
        <p:nvSpPr>
          <p:cNvPr id="3" name="Text 1"/>
          <p:cNvSpPr/>
          <p:nvPr/>
        </p:nvSpPr>
        <p:spPr>
          <a:xfrm>
            <a:off x="457189" y="897573"/>
            <a:ext cx="11277318"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111618"/>
                </a:solidFill>
                <a:latin typeface="Sofia Sans Extra Condensed ExtraBold" pitchFamily="34" charset="0"/>
                <a:ea typeface="Sofia Sans Extra Condensed ExtraBold" pitchFamily="34" charset="-122"/>
                <a:cs typeface="Sofia Sans Extra Condensed ExtraBold" pitchFamily="34" charset="0"/>
              </a:rPr>
              <a:t>START WITH A CREDIBLE MVP, THEN SCALE THROUGH VERIFIED PARTNERS</a:t>
            </a:r>
            <a:endParaRPr lang="en-US" sz="4400" dirty="0"/>
          </a:p>
        </p:txBody>
      </p:sp>
      <p:sp>
        <p:nvSpPr>
          <p:cNvPr id="4" name="Shape 2"/>
          <p:cNvSpPr/>
          <p:nvPr/>
        </p:nvSpPr>
        <p:spPr>
          <a:xfrm>
            <a:off x="457189" y="2074466"/>
            <a:ext cx="3555911" cy="1957685"/>
          </a:xfrm>
          <a:prstGeom prst="rect">
            <a:avLst/>
          </a:prstGeom>
          <a:solidFill>
            <a:srgbClr val="E8E7E0"/>
          </a:solidFill>
          <a:ln/>
        </p:spPr>
      </p:sp>
      <p:sp>
        <p:nvSpPr>
          <p:cNvPr id="5" name="Text 3"/>
          <p:cNvSpPr/>
          <p:nvPr/>
        </p:nvSpPr>
        <p:spPr>
          <a:xfrm>
            <a:off x="685783" y="2307352"/>
            <a:ext cx="3098722" cy="325735"/>
          </a:xfrm>
          <a:prstGeom prst="rect">
            <a:avLst/>
          </a:prstGeom>
          <a:noFill/>
          <a:ln/>
        </p:spPr>
        <p:txBody>
          <a:bodyPr wrap="none" lIns="0" tIns="0" rIns="0" bIns="0" rtlCol="0" anchor="t"/>
          <a:lstStyle/>
          <a:p>
            <a:pPr algn="l" indent="0" marL="0">
              <a:lnSpc>
                <a:spcPct val="113000"/>
              </a:lnSpc>
              <a:buNone/>
            </a:pPr>
            <a:r>
              <a:rPr lang="en-US" sz="1900" dirty="0">
                <a:solidFill>
                  <a:srgbClr val="000000"/>
                </a:solidFill>
                <a:latin typeface="Public Sans" pitchFamily="34" charset="0"/>
                <a:ea typeface="Public Sans" pitchFamily="34" charset="-122"/>
                <a:cs typeface="Public Sans" pitchFamily="34" charset="0"/>
              </a:rPr>
              <a:t>MVP</a:t>
            </a:r>
            <a:endParaRPr lang="en-US" sz="1900" dirty="0"/>
          </a:p>
        </p:txBody>
      </p:sp>
      <p:sp>
        <p:nvSpPr>
          <p:cNvPr id="6" name="Text 4"/>
          <p:cNvSpPr/>
          <p:nvPr/>
        </p:nvSpPr>
        <p:spPr>
          <a:xfrm>
            <a:off x="685783" y="2736751"/>
            <a:ext cx="3098722" cy="10668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000000"/>
                </a:solidFill>
                <a:latin typeface="Public Sans" pitchFamily="34" charset="0"/>
                <a:ea typeface="Public Sans" pitchFamily="34" charset="-122"/>
                <a:cs typeface="Public Sans" pitchFamily="34" charset="0"/>
              </a:rPr>
              <a:t>Registration, donor profiles, recipient requests, sample-data comparison, booking dashboard, and basic notifications.</a:t>
            </a:r>
            <a:endParaRPr lang="en-US" sz="1500" dirty="0"/>
          </a:p>
        </p:txBody>
      </p:sp>
      <p:sp>
        <p:nvSpPr>
          <p:cNvPr id="7" name="Shape 5"/>
          <p:cNvSpPr/>
          <p:nvPr/>
        </p:nvSpPr>
        <p:spPr>
          <a:xfrm>
            <a:off x="4317892" y="2074466"/>
            <a:ext cx="3555911" cy="1957685"/>
          </a:xfrm>
          <a:prstGeom prst="rect">
            <a:avLst/>
          </a:prstGeom>
          <a:solidFill>
            <a:srgbClr val="E8E7E0"/>
          </a:solidFill>
          <a:ln/>
        </p:spPr>
      </p:sp>
      <p:sp>
        <p:nvSpPr>
          <p:cNvPr id="8" name="Text 6"/>
          <p:cNvSpPr/>
          <p:nvPr/>
        </p:nvSpPr>
        <p:spPr>
          <a:xfrm>
            <a:off x="4546486" y="2307352"/>
            <a:ext cx="3098722" cy="325735"/>
          </a:xfrm>
          <a:prstGeom prst="rect">
            <a:avLst/>
          </a:prstGeom>
          <a:noFill/>
          <a:ln/>
        </p:spPr>
        <p:txBody>
          <a:bodyPr wrap="none" lIns="0" tIns="0" rIns="0" bIns="0" rtlCol="0" anchor="t"/>
          <a:lstStyle/>
          <a:p>
            <a:pPr algn="l" indent="0" marL="0">
              <a:lnSpc>
                <a:spcPct val="113000"/>
              </a:lnSpc>
              <a:buNone/>
            </a:pPr>
            <a:r>
              <a:rPr lang="en-US" sz="1900" dirty="0">
                <a:solidFill>
                  <a:srgbClr val="000000"/>
                </a:solidFill>
                <a:latin typeface="Public Sans" pitchFamily="34" charset="0"/>
                <a:ea typeface="Public Sans" pitchFamily="34" charset="-122"/>
                <a:cs typeface="Public Sans" pitchFamily="34" charset="0"/>
              </a:rPr>
              <a:t>Verified integrations</a:t>
            </a:r>
            <a:endParaRPr lang="en-US" sz="1900" dirty="0"/>
          </a:p>
        </p:txBody>
      </p:sp>
      <p:sp>
        <p:nvSpPr>
          <p:cNvPr id="9" name="Text 7"/>
          <p:cNvSpPr/>
          <p:nvPr/>
        </p:nvSpPr>
        <p:spPr>
          <a:xfrm>
            <a:off x="4546486" y="2736751"/>
            <a:ext cx="3098722" cy="10668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000000"/>
                </a:solidFill>
                <a:latin typeface="Public Sans" pitchFamily="34" charset="0"/>
                <a:ea typeface="Public Sans" pitchFamily="34" charset="-122"/>
                <a:cs typeface="Public Sans" pitchFamily="34" charset="0"/>
              </a:rPr>
              <a:t>Provider dashboards, real prices, genuine reviews, appointment connections, and pharmacy listings.</a:t>
            </a:r>
            <a:endParaRPr lang="en-US" sz="1500" dirty="0"/>
          </a:p>
        </p:txBody>
      </p:sp>
      <p:sp>
        <p:nvSpPr>
          <p:cNvPr id="10" name="Shape 8"/>
          <p:cNvSpPr/>
          <p:nvPr/>
        </p:nvSpPr>
        <p:spPr>
          <a:xfrm>
            <a:off x="8178595" y="2074466"/>
            <a:ext cx="3555911" cy="1957685"/>
          </a:xfrm>
          <a:prstGeom prst="rect">
            <a:avLst/>
          </a:prstGeom>
          <a:solidFill>
            <a:srgbClr val="E8E7E0"/>
          </a:solidFill>
          <a:ln/>
        </p:spPr>
      </p:sp>
      <p:sp>
        <p:nvSpPr>
          <p:cNvPr id="11" name="Text 9"/>
          <p:cNvSpPr/>
          <p:nvPr/>
        </p:nvSpPr>
        <p:spPr>
          <a:xfrm>
            <a:off x="8407190" y="2307352"/>
            <a:ext cx="3098722" cy="325735"/>
          </a:xfrm>
          <a:prstGeom prst="rect">
            <a:avLst/>
          </a:prstGeom>
          <a:noFill/>
          <a:ln/>
        </p:spPr>
        <p:txBody>
          <a:bodyPr wrap="none" lIns="0" tIns="0" rIns="0" bIns="0" rtlCol="0" anchor="t"/>
          <a:lstStyle/>
          <a:p>
            <a:pPr algn="l" indent="0" marL="0">
              <a:lnSpc>
                <a:spcPct val="113000"/>
              </a:lnSpc>
              <a:buNone/>
            </a:pPr>
            <a:r>
              <a:rPr lang="en-US" sz="1900" dirty="0">
                <a:solidFill>
                  <a:srgbClr val="000000"/>
                </a:solidFill>
                <a:latin typeface="Public Sans" pitchFamily="34" charset="0"/>
                <a:ea typeface="Public Sans" pitchFamily="34" charset="-122"/>
                <a:cs typeface="Public Sans" pitchFamily="34" charset="0"/>
              </a:rPr>
              <a:t>Expansion</a:t>
            </a:r>
            <a:endParaRPr lang="en-US" sz="1900" dirty="0"/>
          </a:p>
        </p:txBody>
      </p:sp>
      <p:sp>
        <p:nvSpPr>
          <p:cNvPr id="12" name="Text 10"/>
          <p:cNvSpPr/>
          <p:nvPr/>
        </p:nvSpPr>
        <p:spPr>
          <a:xfrm>
            <a:off x="8407190" y="2736751"/>
            <a:ext cx="3098722" cy="10668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000000"/>
                </a:solidFill>
                <a:latin typeface="Public Sans" pitchFamily="34" charset="0"/>
                <a:ea typeface="Public Sans" pitchFamily="34" charset="-122"/>
                <a:cs typeface="Public Sans" pitchFamily="34" charset="0"/>
              </a:rPr>
              <a:t>Official organ donation services, authorized transplant-centre discovery, more partners, and personalized service discovery.</a:t>
            </a:r>
            <a:endParaRPr lang="en-US" sz="1500" dirty="0"/>
          </a:p>
        </p:txBody>
      </p:sp>
      <p:sp>
        <p:nvSpPr>
          <p:cNvPr id="13" name="Text 11"/>
          <p:cNvSpPr/>
          <p:nvPr/>
        </p:nvSpPr>
        <p:spPr>
          <a:xfrm>
            <a:off x="457189" y="4171216"/>
            <a:ext cx="11734506" cy="319980"/>
          </a:xfrm>
          <a:prstGeom prst="rect">
            <a:avLst/>
          </a:prstGeom>
          <a:noFill/>
          <a:ln/>
        </p:spPr>
        <p:txBody>
          <a:bodyPr wrap="none" lIns="0" tIns="0" rIns="0" bIns="0" rtlCol="0" anchor="t"/>
          <a:lstStyle/>
          <a:p>
            <a:pPr algn="l" indent="0" marL="0">
              <a:lnSpc>
                <a:spcPct val="117000"/>
              </a:lnSpc>
              <a:buNone/>
            </a:pPr>
            <a:r>
              <a:rPr lang="en-US" sz="1800" dirty="0">
                <a:solidFill>
                  <a:srgbClr val="2A3134"/>
                </a:solidFill>
                <a:latin typeface="Public Sans" pitchFamily="34" charset="0"/>
                <a:ea typeface="Public Sans" pitchFamily="34" charset="-122"/>
                <a:cs typeface="Public Sans" pitchFamily="34" charset="0"/>
              </a:rPr>
              <a:t>Better access, informed choices, stronger donation networks, and more connected care.</a:t>
            </a:r>
            <a:endParaRPr lang="en-US" sz="1800" dirty="0"/>
          </a:p>
        </p:txBody>
      </p:sp>
      <p:sp>
        <p:nvSpPr>
          <p:cNvPr id="14" name="Text 12"/>
          <p:cNvSpPr/>
          <p:nvPr/>
        </p:nvSpPr>
        <p:spPr>
          <a:xfrm>
            <a:off x="457189" y="4763294"/>
            <a:ext cx="11277318" cy="361950"/>
          </a:xfrm>
          <a:prstGeom prst="rect">
            <a:avLst/>
          </a:prstGeom>
          <a:noFill/>
          <a:ln/>
        </p:spPr>
        <p:txBody>
          <a:bodyPr wrap="none" lIns="0" tIns="0" rIns="0" bIns="0" rtlCol="0" anchor="t"/>
          <a:lstStyle/>
          <a:p>
            <a:pPr algn="l" indent="0" marL="0">
              <a:lnSpc>
                <a:spcPct val="79000"/>
              </a:lnSpc>
              <a:buNone/>
            </a:pPr>
            <a:r>
              <a:rPr lang="en-US" sz="3000" dirty="0">
                <a:solidFill>
                  <a:srgbClr val="111618"/>
                </a:solidFill>
                <a:latin typeface="Sofia Sans Extra Condensed ExtraBold" pitchFamily="34" charset="0"/>
                <a:ea typeface="Sofia Sans Extra Condensed ExtraBold" pitchFamily="34" charset="-122"/>
                <a:cs typeface="Sofia Sans Extra Condensed ExtraBold" pitchFamily="34" charset="0"/>
              </a:rPr>
              <a:t>ONE PLATFORM. BETTER ACCESS. INFORMED CHOICES. MORE LIVES CONNECTED.</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2026-10-24T10:44:44Z</dcterms:created>
  <dcterms:modified xsi:type="dcterms:W3CDTF">2026-10-24T10:44:44Z</dcterms:modified>
</cp:coreProperties>
</file>